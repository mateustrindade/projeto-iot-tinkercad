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5143500" cx="9144000"/>
  <p:notesSz cx="6858000" cy="9144000"/>
  <p:embeddedFontLst>
    <p:embeddedFont>
      <p:font typeface="Inter SemiBold"/>
      <p:regular r:id="rId19"/>
      <p:bold r:id="rId20"/>
      <p:italic r:id="rId21"/>
      <p:boldItalic r:id="rId22"/>
    </p:embeddedFont>
    <p:embeddedFont>
      <p:font typeface="Montserrat"/>
      <p:regular r:id="rId23"/>
      <p:bold r:id="rId24"/>
      <p:italic r:id="rId25"/>
      <p:boldItalic r:id="rId26"/>
    </p:embeddedFont>
    <p:embeddedFont>
      <p:font typeface="Lato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Fira Code"/>
      <p:regular r:id="rId35"/>
      <p:bold r:id="rId36"/>
    </p:embeddedFont>
    <p:embeddedFont>
      <p:font typeface="Space Grotesk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SemiBold-bold.fntdata"/><Relationship Id="rId22" Type="http://schemas.openxmlformats.org/officeDocument/2006/relationships/font" Target="fonts/InterSemiBold-boldItalic.fntdata"/><Relationship Id="rId21" Type="http://schemas.openxmlformats.org/officeDocument/2006/relationships/font" Target="fonts/InterSemiBold-italic.fntdata"/><Relationship Id="rId24" Type="http://schemas.openxmlformats.org/officeDocument/2006/relationships/font" Target="fonts/Montserrat-bold.fntdata"/><Relationship Id="rId23" Type="http://schemas.openxmlformats.org/officeDocument/2006/relationships/font" Target="fonts/Montserrat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Montserrat-boldItalic.fntdata"/><Relationship Id="rId25" Type="http://schemas.openxmlformats.org/officeDocument/2006/relationships/font" Target="fonts/Montserrat-italic.fntdata"/><Relationship Id="rId28" Type="http://schemas.openxmlformats.org/officeDocument/2006/relationships/font" Target="fonts/Lato-bold.fntdata"/><Relationship Id="rId27" Type="http://schemas.openxmlformats.org/officeDocument/2006/relationships/font" Target="fonts/Lato-regular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Lato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Inter-regular.fntdata"/><Relationship Id="rId30" Type="http://schemas.openxmlformats.org/officeDocument/2006/relationships/font" Target="fonts/Lato-boldItalic.fntdata"/><Relationship Id="rId11" Type="http://schemas.openxmlformats.org/officeDocument/2006/relationships/slide" Target="slides/slide5.xml"/><Relationship Id="rId33" Type="http://schemas.openxmlformats.org/officeDocument/2006/relationships/font" Target="fonts/Inter-italic.fntdata"/><Relationship Id="rId10" Type="http://schemas.openxmlformats.org/officeDocument/2006/relationships/slide" Target="slides/slide4.xml"/><Relationship Id="rId32" Type="http://schemas.openxmlformats.org/officeDocument/2006/relationships/font" Target="fonts/Inter-bold.fntdata"/><Relationship Id="rId13" Type="http://schemas.openxmlformats.org/officeDocument/2006/relationships/slide" Target="slides/slide7.xml"/><Relationship Id="rId35" Type="http://schemas.openxmlformats.org/officeDocument/2006/relationships/font" Target="fonts/FiraCode-regular.fntdata"/><Relationship Id="rId12" Type="http://schemas.openxmlformats.org/officeDocument/2006/relationships/slide" Target="slides/slide6.xml"/><Relationship Id="rId34" Type="http://schemas.openxmlformats.org/officeDocument/2006/relationships/font" Target="fonts/Inter-boldItalic.fntdata"/><Relationship Id="rId15" Type="http://schemas.openxmlformats.org/officeDocument/2006/relationships/slide" Target="slides/slide9.xml"/><Relationship Id="rId37" Type="http://schemas.openxmlformats.org/officeDocument/2006/relationships/font" Target="fonts/SpaceGrotesk-bold.fntdata"/><Relationship Id="rId14" Type="http://schemas.openxmlformats.org/officeDocument/2006/relationships/slide" Target="slides/slide8.xml"/><Relationship Id="rId36" Type="http://schemas.openxmlformats.org/officeDocument/2006/relationships/font" Target="fonts/FiraCode-bold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InterSemiBold-regular.fntdata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e35bd53578_2_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" name="Google Shape;134;g3e35bd53578_2_2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g3e35bd53578_2_2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pt-BR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e35bd53578_2_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9" name="Google Shape;149;g3e35bd53578_2_17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g3e35bd53578_2_17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e35bd53578_2_3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5" name="Google Shape;165;g3e35bd53578_2_33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g3e35bd53578_2_33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e35bd53578_0_77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9" name="Google Shape;179;g3e35bd53578_0_777:notes"/>
          <p:cNvSpPr txBox="1"/>
          <p:nvPr>
            <p:ph idx="1" type="body"/>
          </p:nvPr>
        </p:nvSpPr>
        <p:spPr>
          <a:xfrm>
            <a:off x="0" y="0"/>
            <a:ext cx="39999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g3e35bd53578_0_777:notes"/>
          <p:cNvSpPr txBox="1"/>
          <p:nvPr>
            <p:ph idx="12" type="sldNum"/>
          </p:nvPr>
        </p:nvSpPr>
        <p:spPr>
          <a:xfrm>
            <a:off x="0" y="0"/>
            <a:ext cx="39999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e35bd53578_2_6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2" name="Google Shape;212;g3e35bd53578_2_65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g3e35bd53578_2_65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e35bd53578_2_8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3" name="Google Shape;233;g3e35bd53578_2_85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g3e35bd53578_2_85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e35bd53578_2_9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8" name="Google Shape;248;g3e35bd53578_2_99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g3e35bd53578_2_99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e35bd53578_2_1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0" name="Google Shape;260;g3e35bd53578_2_112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g3e35bd53578_2_112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e35bd53578_2_1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1" name="Google Shape;271;g3e35bd53578_2_127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g3e35bd53578_2_127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e35bd53578_2_14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5" name="Google Shape;285;g3e35bd53578_2_141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g3e35bd53578_2_141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e35bd53578_2_16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4" name="Google Shape;304;g3e35bd53578_2_161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g3e35bd53578_2_161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e35bd53578_2_17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9" name="Google Shape;319;g3e35bd53578_2_176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g3e35bd53578_2_176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0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jpg"/><Relationship Id="rId4" Type="http://schemas.openxmlformats.org/officeDocument/2006/relationships/image" Target="../media/image2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jp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jpg"/><Relationship Id="rId4" Type="http://schemas.openxmlformats.org/officeDocument/2006/relationships/image" Target="../media/image3.png"/><Relationship Id="rId10" Type="http://schemas.openxmlformats.org/officeDocument/2006/relationships/image" Target="../media/image4.png"/><Relationship Id="rId9" Type="http://schemas.openxmlformats.org/officeDocument/2006/relationships/image" Target="../media/image10.png"/><Relationship Id="rId5" Type="http://schemas.openxmlformats.org/officeDocument/2006/relationships/image" Target="../media/image7.png"/><Relationship Id="rId6" Type="http://schemas.openxmlformats.org/officeDocument/2006/relationships/image" Target="../media/image1.png"/><Relationship Id="rId7" Type="http://schemas.openxmlformats.org/officeDocument/2006/relationships/image" Target="../media/image6.png"/><Relationship Id="rId8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9.jp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8.png"/><Relationship Id="rId7" Type="http://schemas.openxmlformats.org/officeDocument/2006/relationships/image" Target="../media/image13.png"/><Relationship Id="rId8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8.jpg"/><Relationship Id="rId4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5.jpg"/><Relationship Id="rId4" Type="http://schemas.openxmlformats.org/officeDocument/2006/relationships/image" Target="../media/image2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jpg"/><Relationship Id="rId4" Type="http://schemas.openxmlformats.org/officeDocument/2006/relationships/image" Target="../media/image2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7.jpg"/><Relationship Id="rId4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jpg"/><Relationship Id="rId4" Type="http://schemas.openxmlformats.org/officeDocument/2006/relationships/image" Target="../media/image23.png"/><Relationship Id="rId5" Type="http://schemas.openxmlformats.org/officeDocument/2006/relationships/image" Target="../media/image17.png"/><Relationship Id="rId6" Type="http://schemas.openxmlformats.org/officeDocument/2006/relationships/image" Target="../media/image1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2.png"/><Relationship Id="rId4" Type="http://schemas.openxmlformats.org/officeDocument/2006/relationships/image" Target="../media/image30.png"/><Relationship Id="rId5" Type="http://schemas.openxmlformats.org/officeDocument/2006/relationships/image" Target="../media/image1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37" name="Google Shape;13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5"/>
          <p:cNvSpPr/>
          <p:nvPr/>
        </p:nvSpPr>
        <p:spPr>
          <a:xfrm>
            <a:off x="857250" y="999651"/>
            <a:ext cx="6743700" cy="3144199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5"/>
          <p:cNvSpPr/>
          <p:nvPr/>
        </p:nvSpPr>
        <p:spPr>
          <a:xfrm>
            <a:off x="857250" y="999651"/>
            <a:ext cx="28575" cy="3144199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5"/>
          <p:cNvSpPr/>
          <p:nvPr/>
        </p:nvSpPr>
        <p:spPr>
          <a:xfrm>
            <a:off x="1143000" y="1305967"/>
            <a:ext cx="6429375" cy="15087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3300"/>
              <a:buFont typeface="Space Grotesk"/>
              <a:buNone/>
            </a:pPr>
            <a:r>
              <a:rPr b="1" i="0" lang="pt-BR" sz="3300" u="none" cap="none" strike="noStrike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PROJETO IOT:</a:t>
            </a:r>
            <a:br>
              <a:rPr b="1" i="0" lang="pt-BR" sz="3300" u="none" cap="none" strike="noStrike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b="1" i="0" lang="pt-BR" sz="3300" u="none" cap="none" strike="noStrike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AUTOMAÇÃO DE SISTEMA DE</a:t>
            </a:r>
            <a:br>
              <a:rPr b="1" i="0" lang="pt-BR" sz="3300" u="none" cap="none" strike="noStrike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</a:br>
            <a:r>
              <a:rPr b="1" i="0" lang="pt-BR" sz="3300" u="none" cap="none" strike="noStrike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ILUMINAÇÃO RESIDENCIAL</a:t>
            </a:r>
            <a:endParaRPr b="0" i="0" sz="3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5"/>
          <p:cNvSpPr/>
          <p:nvPr/>
        </p:nvSpPr>
        <p:spPr>
          <a:xfrm>
            <a:off x="1143000" y="3004421"/>
            <a:ext cx="6429375" cy="2768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700"/>
              <a:buFont typeface="Inter"/>
              <a:buNone/>
            </a:pPr>
            <a:r>
              <a:rPr b="0" i="0" lang="pt-BR" sz="1700" u="none" cap="none" strike="noStrike">
                <a:solidFill>
                  <a:srgbClr val="FFD700"/>
                </a:solidFill>
                <a:latin typeface="Inter"/>
                <a:ea typeface="Inter"/>
                <a:cs typeface="Inter"/>
                <a:sym typeface="Inter"/>
              </a:rPr>
              <a:t>Desenvolvimento e Simulação para Eficiência Energética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5"/>
          <p:cNvSpPr/>
          <p:nvPr/>
        </p:nvSpPr>
        <p:spPr>
          <a:xfrm>
            <a:off x="1143000" y="3495554"/>
            <a:ext cx="6429375" cy="161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pt-BR" sz="1050" u="none" cap="none" strike="noStrik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Hanna Serapião</a:t>
            </a:r>
            <a:endParaRPr b="1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5"/>
          <p:cNvSpPr/>
          <p:nvPr/>
        </p:nvSpPr>
        <p:spPr>
          <a:xfrm>
            <a:off x="1143000" y="3711653"/>
            <a:ext cx="6429375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0E0E0"/>
              </a:buClr>
              <a:buSzPts val="1050"/>
              <a:buFont typeface="Inter"/>
              <a:buNone/>
            </a:pPr>
            <a:r>
              <a:rPr b="0" i="0" lang="pt-BR" sz="1050" u="none" cap="none" strike="noStrik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Hugliane Almeida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5"/>
          <p:cNvSpPr/>
          <p:nvPr/>
        </p:nvSpPr>
        <p:spPr>
          <a:xfrm>
            <a:off x="1143000" y="3927751"/>
            <a:ext cx="6429375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0E0E0"/>
              </a:buClr>
              <a:buSzPts val="1050"/>
              <a:buFont typeface="Inter"/>
              <a:buNone/>
            </a:pPr>
            <a:r>
              <a:rPr b="0" i="0" lang="pt-BR" sz="1050" u="none" cap="none" strike="noStrike">
                <a:solidFill>
                  <a:srgbClr val="E0E0E0"/>
                </a:solidFill>
                <a:latin typeface="Inter"/>
                <a:ea typeface="Inter"/>
                <a:cs typeface="Inter"/>
                <a:sym typeface="Inter"/>
              </a:rPr>
              <a:t>Mateus Trindade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5"/>
          <p:cNvSpPr/>
          <p:nvPr/>
        </p:nvSpPr>
        <p:spPr>
          <a:xfrm>
            <a:off x="7343775" y="3343275"/>
            <a:ext cx="1443038" cy="1443038"/>
          </a:xfrm>
          <a:prstGeom prst="ellipse">
            <a:avLst/>
          </a:prstGeom>
          <a:solidFill>
            <a:srgbClr val="000000">
              <a:alpha val="0"/>
            </a:srgbClr>
          </a:solidFill>
          <a:ln cap="flat" cmpd="sng" w="9525">
            <a:solidFill>
              <a:srgbClr val="00F2FF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5"/>
          <p:cNvSpPr/>
          <p:nvPr/>
        </p:nvSpPr>
        <p:spPr>
          <a:xfrm rot="2700000">
            <a:off x="7536656" y="4068366"/>
            <a:ext cx="1071563" cy="7144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52" name="Google Shape;15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300" y="-30875"/>
            <a:ext cx="9086852" cy="545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6"/>
          <p:cNvSpPr/>
          <p:nvPr/>
        </p:nvSpPr>
        <p:spPr>
          <a:xfrm>
            <a:off x="628650" y="485775"/>
            <a:ext cx="8572500" cy="3770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450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 CONTEXTO E MOTIVAÇÃO</a:t>
            </a:r>
            <a:endParaRPr b="1" sz="2450">
              <a:solidFill>
                <a:srgbClr val="00F2FF"/>
              </a:solidFill>
              <a:latin typeface="Space Grotesk"/>
              <a:ea typeface="Space Grotesk"/>
              <a:cs typeface="Space Grotesk"/>
              <a:sym typeface="Space Grotesk"/>
            </a:endParaRPr>
          </a:p>
        </p:txBody>
      </p:sp>
      <p:sp>
        <p:nvSpPr>
          <p:cNvPr id="154" name="Google Shape;154;p16"/>
          <p:cNvSpPr/>
          <p:nvPr/>
        </p:nvSpPr>
        <p:spPr>
          <a:xfrm>
            <a:off x="628650" y="1057349"/>
            <a:ext cx="4286400" cy="25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400"/>
              <a:buFont typeface="Inter SemiBold"/>
              <a:buNone/>
            </a:pPr>
            <a:r>
              <a:rPr b="1" lang="pt-BR" sz="14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IMPACTO NACIONAL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6"/>
          <p:cNvSpPr/>
          <p:nvPr/>
        </p:nvSpPr>
        <p:spPr>
          <a:xfrm>
            <a:off x="506500" y="1380775"/>
            <a:ext cx="5297700" cy="6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100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O crescimento no  consumo de energia  elétrica residencial, representa aproximadamente 25% da eletricidade total consumida no Brasil,  impulsiona  a busca  por soluções de eficiência </a:t>
            </a: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energética</a:t>
            </a: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 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6"/>
          <p:cNvSpPr/>
          <p:nvPr/>
        </p:nvSpPr>
        <p:spPr>
          <a:xfrm>
            <a:off x="562610" y="2230008"/>
            <a:ext cx="42864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400"/>
              <a:buFont typeface="Inter SemiBold"/>
              <a:buNone/>
            </a:pPr>
            <a:r>
              <a:rPr b="1" lang="pt-BR" sz="14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 DESPERDÍCIO</a:t>
            </a:r>
            <a:endParaRPr b="1" sz="1400">
              <a:solidFill>
                <a:srgbClr val="FFD70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57" name="Google Shape;157;p16"/>
          <p:cNvSpPr/>
          <p:nvPr/>
        </p:nvSpPr>
        <p:spPr>
          <a:xfrm>
            <a:off x="506500" y="2495313"/>
            <a:ext cx="5297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100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Grande parte do consumo é gerado por iluminação ociosa em ambientes que já possuem luz natural suficiente ou estão desocupados.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6"/>
          <p:cNvSpPr/>
          <p:nvPr/>
        </p:nvSpPr>
        <p:spPr>
          <a:xfrm>
            <a:off x="578950" y="3076450"/>
            <a:ext cx="4551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400"/>
              <a:buFont typeface="Inter SemiBold"/>
              <a:buNone/>
            </a:pPr>
            <a:r>
              <a:rPr b="1" lang="pt-BR" sz="14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</a:t>
            </a:r>
            <a:r>
              <a:rPr b="1" lang="pt-BR" sz="12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r>
              <a:rPr b="1" lang="pt-BR" sz="14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SOLUÇÃO</a:t>
            </a:r>
            <a:r>
              <a:rPr b="1" lang="pt-BR" sz="12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IOT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6"/>
          <p:cNvSpPr/>
          <p:nvPr/>
        </p:nvSpPr>
        <p:spPr>
          <a:xfrm>
            <a:off x="578950" y="3372048"/>
            <a:ext cx="5152800" cy="6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100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Implementar um sistema autônomo capaz de monitorar a luminosidade que desativa a iluminação artificial quando o ambiente dispõe de luz natural suficiente, sem necessidade intervenção humana.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6"/>
          <p:cNvSpPr/>
          <p:nvPr/>
        </p:nvSpPr>
        <p:spPr>
          <a:xfrm>
            <a:off x="562610" y="4257061"/>
            <a:ext cx="2259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4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OBJETIVO DO SISTEMA</a:t>
            </a:r>
            <a:endParaRPr b="1" sz="1400">
              <a:solidFill>
                <a:srgbClr val="FFD70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61" name="Google Shape;161;p16"/>
          <p:cNvSpPr/>
          <p:nvPr/>
        </p:nvSpPr>
        <p:spPr>
          <a:xfrm>
            <a:off x="508527" y="4514875"/>
            <a:ext cx="5365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Reduzir o desperdício de energia elétrica através de um sistema autônomo baseado em IoT</a:t>
            </a:r>
            <a:r>
              <a:rPr lang="pt-BR" sz="95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2" name="Google Shape;162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07200" y="1464425"/>
            <a:ext cx="2501550" cy="283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8" name="Google Shape;16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3588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/>
          <p:nvPr/>
        </p:nvSpPr>
        <p:spPr>
          <a:xfrm>
            <a:off x="571500" y="428625"/>
            <a:ext cx="8572500" cy="4375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2450"/>
              <a:buFont typeface="Space Grotesk"/>
              <a:buNone/>
            </a:pPr>
            <a:r>
              <a:rPr b="1" lang="pt-BR" sz="2450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FERRAMENTAS DE DESENVOLVIMENTO</a:t>
            </a:r>
            <a:endParaRPr sz="2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/>
          <p:nvPr/>
        </p:nvSpPr>
        <p:spPr>
          <a:xfrm>
            <a:off x="764381" y="1223367"/>
            <a:ext cx="3736181" cy="1893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Inter SemiBold"/>
              <a:buNone/>
            </a:pPr>
            <a:r>
              <a:rPr b="1" lang="pt-BR" sz="11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SIMULADOR TINKERCAD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/>
          <p:nvPr/>
        </p:nvSpPr>
        <p:spPr>
          <a:xfrm>
            <a:off x="764381" y="1541264"/>
            <a:ext cx="3736181" cy="3857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95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Plataforma web eficiente para demonstrar de forma didática a montagem e o funcionamento de circuitos eletrônicos.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764375" y="2261348"/>
            <a:ext cx="37362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Inter SemiBold"/>
              <a:buNone/>
            </a:pPr>
            <a:r>
              <a:rPr b="1" lang="pt-BR" sz="11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VALIDAÇÃO DE LÓGICA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7"/>
          <p:cNvSpPr/>
          <p:nvPr/>
        </p:nvSpPr>
        <p:spPr>
          <a:xfrm>
            <a:off x="764375" y="2571750"/>
            <a:ext cx="3736200" cy="43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95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Permite testar o comportamento do sistema sob diferentes circunstâncias antes da implementação física real.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7"/>
          <p:cNvSpPr/>
          <p:nvPr/>
        </p:nvSpPr>
        <p:spPr>
          <a:xfrm>
            <a:off x="764375" y="3380077"/>
            <a:ext cx="3736200" cy="22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Inter SemiBold"/>
              <a:buNone/>
            </a:pPr>
            <a:r>
              <a:rPr b="1" lang="pt-BR" sz="11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AMBIENTE INTEGRADO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7"/>
          <p:cNvSpPr/>
          <p:nvPr/>
        </p:nvSpPr>
        <p:spPr>
          <a:xfrm>
            <a:off x="764375" y="3642225"/>
            <a:ext cx="3736200" cy="3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95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Facilita a integração entre hardware virtual (Arduino) e software (C++), garantindo precisão nos testes iniciais.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6" name="Google Shape;176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51900" y="1569613"/>
            <a:ext cx="3870899" cy="200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82" name="Google Shape;18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88" y="-12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8"/>
          <p:cNvSpPr/>
          <p:nvPr/>
        </p:nvSpPr>
        <p:spPr>
          <a:xfrm>
            <a:off x="571500" y="428625"/>
            <a:ext cx="8326200" cy="43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2450"/>
              <a:buFont typeface="Space Grotesk"/>
              <a:buNone/>
            </a:pPr>
            <a:r>
              <a:rPr b="1" lang="pt-BR" sz="2450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FERRAMENTAS DE DESENVOLVIMENTO</a:t>
            </a:r>
            <a:endParaRPr sz="2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764381" y="1223367"/>
            <a:ext cx="37362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Inter SemiBold"/>
              <a:buNone/>
            </a:pPr>
            <a:r>
              <a:t/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764375" y="2261348"/>
            <a:ext cx="37362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Inter SemiBold"/>
              <a:buNone/>
            </a:pPr>
            <a:r>
              <a:t/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6" name="Google Shape;186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4375" y="1181450"/>
            <a:ext cx="2541575" cy="175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8"/>
          <p:cNvSpPr txBox="1"/>
          <p:nvPr/>
        </p:nvSpPr>
        <p:spPr>
          <a:xfrm>
            <a:off x="1017725" y="1929200"/>
            <a:ext cx="1980300" cy="7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Microcontrolador que processa sinais analógicos e controla saídas digitais.</a:t>
            </a:r>
            <a:endParaRPr sz="1100">
              <a:solidFill>
                <a:srgbClr val="B0B0B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8" name="Google Shape;188;p18"/>
          <p:cNvSpPr txBox="1"/>
          <p:nvPr/>
        </p:nvSpPr>
        <p:spPr>
          <a:xfrm>
            <a:off x="1685300" y="1439075"/>
            <a:ext cx="1277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Arduino Uno</a:t>
            </a:r>
            <a:endParaRPr b="1" sz="1300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89" name="Google Shape;189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7088" y="3005625"/>
            <a:ext cx="2541575" cy="1758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1100" y="1181450"/>
            <a:ext cx="2541575" cy="1758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57825" y="1139525"/>
            <a:ext cx="2541575" cy="180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1088" y="3005625"/>
            <a:ext cx="2541575" cy="1758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57813" y="3005625"/>
            <a:ext cx="2541575" cy="175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8"/>
          <p:cNvSpPr txBox="1"/>
          <p:nvPr/>
        </p:nvSpPr>
        <p:spPr>
          <a:xfrm>
            <a:off x="1654700" y="3299325"/>
            <a:ext cx="1338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Lâmpada 12V</a:t>
            </a:r>
            <a:endParaRPr b="1" sz="1300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95" name="Google Shape;195;p18"/>
          <p:cNvSpPr txBox="1"/>
          <p:nvPr/>
        </p:nvSpPr>
        <p:spPr>
          <a:xfrm>
            <a:off x="977225" y="3859325"/>
            <a:ext cx="2091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Carga elétrica controlada pelo sistema de automação</a:t>
            </a:r>
            <a:endParaRPr sz="1100">
              <a:solidFill>
                <a:srgbClr val="B0B0B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18"/>
          <p:cNvSpPr txBox="1"/>
          <p:nvPr/>
        </p:nvSpPr>
        <p:spPr>
          <a:xfrm>
            <a:off x="3526050" y="2040200"/>
            <a:ext cx="2218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Resistor que varia  resistência conforme a luminosidade</a:t>
            </a:r>
            <a:endParaRPr sz="1100">
              <a:solidFill>
                <a:srgbClr val="B0B0B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7" name="Google Shape;197;p18"/>
          <p:cNvSpPr txBox="1"/>
          <p:nvPr/>
        </p:nvSpPr>
        <p:spPr>
          <a:xfrm>
            <a:off x="4256475" y="1439075"/>
            <a:ext cx="1407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LDR (Sensor)</a:t>
            </a:r>
            <a:endParaRPr b="1" sz="1300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98" name="Google Shape;198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54324" y="1468112"/>
            <a:ext cx="437700" cy="43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25276" y="3299325"/>
            <a:ext cx="437700" cy="43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664895" y="1452083"/>
            <a:ext cx="437700" cy="437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1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721195" y="3255320"/>
            <a:ext cx="437700" cy="437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18"/>
          <p:cNvSpPr txBox="1"/>
          <p:nvPr/>
        </p:nvSpPr>
        <p:spPr>
          <a:xfrm>
            <a:off x="3613549" y="3748325"/>
            <a:ext cx="2091900" cy="7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Forma o divisor de tensão com o LDR para leitura analógica</a:t>
            </a:r>
            <a:endParaRPr sz="1100">
              <a:solidFill>
                <a:srgbClr val="B0B0B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18"/>
          <p:cNvSpPr txBox="1"/>
          <p:nvPr/>
        </p:nvSpPr>
        <p:spPr>
          <a:xfrm>
            <a:off x="4291724" y="3255325"/>
            <a:ext cx="145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Resistor 10kΩ</a:t>
            </a:r>
            <a:endParaRPr b="1" sz="1300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04" name="Google Shape;204;p18"/>
          <p:cNvSpPr txBox="1"/>
          <p:nvPr/>
        </p:nvSpPr>
        <p:spPr>
          <a:xfrm>
            <a:off x="6857875" y="1412675"/>
            <a:ext cx="13389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Relé SPDT</a:t>
            </a:r>
            <a:endParaRPr b="1" sz="1300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205" name="Google Shape;205;p1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300775" y="1386276"/>
            <a:ext cx="437700" cy="437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8"/>
          <p:cNvSpPr txBox="1"/>
          <p:nvPr/>
        </p:nvSpPr>
        <p:spPr>
          <a:xfrm>
            <a:off x="6265750" y="1905800"/>
            <a:ext cx="20289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Chave eletromecânica que permite ao Arduino controlar a lâmpada de 12V</a:t>
            </a:r>
            <a:r>
              <a:rPr lang="pt-BR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207" name="Google Shape;207;p18"/>
          <p:cNvSpPr txBox="1"/>
          <p:nvPr/>
        </p:nvSpPr>
        <p:spPr>
          <a:xfrm>
            <a:off x="6798575" y="3140275"/>
            <a:ext cx="1453200" cy="6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Fonte 12V +</a:t>
            </a:r>
            <a:endParaRPr b="1" sz="1300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Protoboard</a:t>
            </a:r>
            <a:endParaRPr b="1" sz="1300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08" name="Google Shape;208;p18"/>
          <p:cNvSpPr txBox="1"/>
          <p:nvPr/>
        </p:nvSpPr>
        <p:spPr>
          <a:xfrm>
            <a:off x="6194650" y="3859325"/>
            <a:ext cx="2218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Alimentação da lâmpada e plataforma de prototipagem</a:t>
            </a:r>
            <a:endParaRPr sz="1100">
              <a:solidFill>
                <a:srgbClr val="B0B0B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09" name="Google Shape;209;p18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270175" y="3272923"/>
            <a:ext cx="437700" cy="43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15" name="Google Shape;21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9"/>
          <p:cNvSpPr/>
          <p:nvPr/>
        </p:nvSpPr>
        <p:spPr>
          <a:xfrm>
            <a:off x="571500" y="428625"/>
            <a:ext cx="8572500" cy="4375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2450"/>
              <a:buFont typeface="Space Grotesk"/>
              <a:buNone/>
            </a:pPr>
            <a:r>
              <a:rPr b="1" lang="pt-BR" sz="2450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MONTAGEM DO CIRCUITO</a:t>
            </a:r>
            <a:endParaRPr sz="2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17" name="Google Shape;21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060847"/>
            <a:ext cx="128588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9"/>
          <p:cNvSpPr/>
          <p:nvPr/>
        </p:nvSpPr>
        <p:spPr>
          <a:xfrm>
            <a:off x="828675" y="1151930"/>
            <a:ext cx="3886200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1000"/>
              <a:buFont typeface="Inter SemiBold"/>
              <a:buNone/>
            </a:pPr>
            <a:r>
              <a:rPr b="1" lang="pt-BR" sz="1100">
                <a:solidFill>
                  <a:srgbClr val="00F2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ALIMENTAÇÃO BASE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9"/>
          <p:cNvSpPr/>
          <p:nvPr/>
        </p:nvSpPr>
        <p:spPr>
          <a:xfrm>
            <a:off x="828675" y="1439475"/>
            <a:ext cx="4293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85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Conexão das saídas 5V e GND do Arduino aos barramentos da protoboard para energizar os componentes de sinal.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0" name="Google Shape;220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077045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9"/>
          <p:cNvSpPr/>
          <p:nvPr/>
        </p:nvSpPr>
        <p:spPr>
          <a:xfrm>
            <a:off x="871538" y="2168128"/>
            <a:ext cx="3843338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1000"/>
              <a:buFont typeface="Inter SemiBold"/>
              <a:buNone/>
            </a:pPr>
            <a:r>
              <a:rPr b="1" lang="pt-BR" sz="1100">
                <a:solidFill>
                  <a:srgbClr val="00F2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DIVISOR DE TENSÃO (LDR)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/>
          <p:nvPr/>
        </p:nvSpPr>
        <p:spPr>
          <a:xfrm>
            <a:off x="871551" y="2455675"/>
            <a:ext cx="4293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85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Integração do sensor LDR à porta analógica A0 com um resistor de 10kΩ, permitindo a leitura precisa da luminosidade.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3" name="Google Shape;223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093244"/>
            <a:ext cx="192881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9"/>
          <p:cNvSpPr/>
          <p:nvPr/>
        </p:nvSpPr>
        <p:spPr>
          <a:xfrm>
            <a:off x="892969" y="3184327"/>
            <a:ext cx="3821906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1000"/>
              <a:buFont typeface="Inter SemiBold"/>
              <a:buNone/>
            </a:pPr>
            <a:r>
              <a:rPr b="1" lang="pt-BR" sz="1100">
                <a:solidFill>
                  <a:srgbClr val="00F2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INTERFACE DE POTÊNCIA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9"/>
          <p:cNvSpPr/>
          <p:nvPr/>
        </p:nvSpPr>
        <p:spPr>
          <a:xfrm>
            <a:off x="892976" y="3471875"/>
            <a:ext cx="42717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85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Conexão do Relé SPDT ao pino digital 4. O relé atua como interruptor para a fonte externa de 12V da lâmpada.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6" name="Google Shape;226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109442"/>
            <a:ext cx="128588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19"/>
          <p:cNvSpPr/>
          <p:nvPr/>
        </p:nvSpPr>
        <p:spPr>
          <a:xfrm>
            <a:off x="828675" y="4200525"/>
            <a:ext cx="3886200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1000"/>
              <a:buFont typeface="Inter SemiBold"/>
              <a:buNone/>
            </a:pPr>
            <a:r>
              <a:rPr b="1" lang="pt-BR" sz="1100">
                <a:solidFill>
                  <a:srgbClr val="00F2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CIRCUITO DE CARGA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9"/>
          <p:cNvSpPr/>
          <p:nvPr/>
        </p:nvSpPr>
        <p:spPr>
          <a:xfrm>
            <a:off x="828675" y="4488050"/>
            <a:ext cx="4293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85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Fechamento do circuito de 12V através dos terminais comum e normalmente aberto (NO) do relé.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9"/>
          <p:cNvSpPr/>
          <p:nvPr/>
        </p:nvSpPr>
        <p:spPr>
          <a:xfrm>
            <a:off x="4857750" y="3846909"/>
            <a:ext cx="3714750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8050" spcFirstLastPara="1" rIns="6805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None/>
            </a:pPr>
            <a:r>
              <a:t/>
            </a:r>
            <a:endParaRPr sz="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0" name="Google Shape;230;p1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272100" y="1457646"/>
            <a:ext cx="3300400" cy="22282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36" name="Google Shape;23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52425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20"/>
          <p:cNvSpPr/>
          <p:nvPr/>
        </p:nvSpPr>
        <p:spPr>
          <a:xfrm>
            <a:off x="571500" y="428625"/>
            <a:ext cx="8572500" cy="4375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2450"/>
              <a:buFont typeface="Space Grotesk"/>
              <a:buNone/>
            </a:pPr>
            <a:r>
              <a:rPr b="1" lang="pt-BR" sz="2450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LÓGICA DE PROGRAMAÇÃO</a:t>
            </a:r>
            <a:endParaRPr sz="2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0"/>
          <p:cNvSpPr/>
          <p:nvPr/>
        </p:nvSpPr>
        <p:spPr>
          <a:xfrm>
            <a:off x="728663" y="1094780"/>
            <a:ext cx="35577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Fira Code"/>
              <a:buNone/>
            </a:pPr>
            <a:r>
              <a:rPr b="1" lang="pt-BR" sz="1200">
                <a:solidFill>
                  <a:srgbClr val="FFD700"/>
                </a:solidFill>
                <a:latin typeface="Fira Code"/>
                <a:ea typeface="Fira Code"/>
                <a:cs typeface="Fira Code"/>
                <a:sym typeface="Fira Code"/>
              </a:rPr>
              <a:t>void setup()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0"/>
          <p:cNvSpPr/>
          <p:nvPr/>
        </p:nvSpPr>
        <p:spPr>
          <a:xfrm>
            <a:off x="728675" y="1364950"/>
            <a:ext cx="4192800" cy="7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90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Inicializa as configurações de hardware. Define a porta </a:t>
            </a:r>
            <a:r>
              <a:rPr lang="pt-BR" sz="1000">
                <a:solidFill>
                  <a:srgbClr val="00F2FF"/>
                </a:solidFill>
                <a:latin typeface="Fira Code"/>
                <a:ea typeface="Fira Code"/>
                <a:cs typeface="Fira Code"/>
                <a:sym typeface="Fira Code"/>
              </a:rPr>
              <a:t>A0</a:t>
            </a: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 como entrada para o sensor LDR e o pino </a:t>
            </a:r>
            <a:r>
              <a:rPr lang="pt-BR" sz="1000">
                <a:solidFill>
                  <a:srgbClr val="00F2FF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 como saída para o controle do relé. Inicia a comunicação serial a </a:t>
            </a:r>
            <a:r>
              <a:rPr lang="pt-BR" sz="1000">
                <a:solidFill>
                  <a:srgbClr val="00F2FF"/>
                </a:solidFill>
                <a:latin typeface="Fira Code"/>
                <a:ea typeface="Fira Code"/>
                <a:cs typeface="Fira Code"/>
                <a:sym typeface="Fira Code"/>
              </a:rPr>
              <a:t>9600 bps</a:t>
            </a: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0"/>
          <p:cNvSpPr/>
          <p:nvPr/>
        </p:nvSpPr>
        <p:spPr>
          <a:xfrm>
            <a:off x="728675" y="2310125"/>
            <a:ext cx="35577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Fira Code"/>
              <a:buNone/>
            </a:pPr>
            <a:r>
              <a:rPr b="1" lang="pt-BR" sz="1200">
                <a:solidFill>
                  <a:srgbClr val="FFD700"/>
                </a:solidFill>
                <a:latin typeface="Fira Code"/>
                <a:ea typeface="Fira Code"/>
                <a:cs typeface="Fira Code"/>
                <a:sym typeface="Fira Code"/>
              </a:rPr>
              <a:t>void loop()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0"/>
          <p:cNvSpPr/>
          <p:nvPr/>
        </p:nvSpPr>
        <p:spPr>
          <a:xfrm>
            <a:off x="728675" y="2529050"/>
            <a:ext cx="40443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90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Executa a lógica de controle contínuo. Lê o valor analógico do sensor e compara com o limiar de </a:t>
            </a:r>
            <a:r>
              <a:rPr lang="pt-BR" sz="1000">
                <a:solidFill>
                  <a:srgbClr val="00F2FF"/>
                </a:solidFill>
                <a:latin typeface="Fira Code"/>
                <a:ea typeface="Fira Code"/>
                <a:cs typeface="Fira Code"/>
                <a:sym typeface="Fira Code"/>
              </a:rPr>
              <a:t>500</a:t>
            </a: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. Se o ambiente estiver escuro, aciona o relé enviando sinal </a:t>
            </a:r>
            <a:r>
              <a:rPr lang="pt-BR" sz="1000">
                <a:solidFill>
                  <a:srgbClr val="00F2FF"/>
                </a:solidFill>
                <a:latin typeface="Fira Code"/>
                <a:ea typeface="Fira Code"/>
                <a:cs typeface="Fira Code"/>
                <a:sym typeface="Fira Code"/>
              </a:rPr>
              <a:t>HIGH</a:t>
            </a: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0"/>
          <p:cNvSpPr/>
          <p:nvPr/>
        </p:nvSpPr>
        <p:spPr>
          <a:xfrm>
            <a:off x="728675" y="3479299"/>
            <a:ext cx="35577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Fira Code"/>
              <a:buNone/>
            </a:pPr>
            <a:r>
              <a:rPr b="1" lang="pt-BR" sz="1200">
                <a:solidFill>
                  <a:srgbClr val="FFD700"/>
                </a:solidFill>
                <a:latin typeface="Fira Code"/>
                <a:ea typeface="Fira Code"/>
                <a:cs typeface="Fira Code"/>
                <a:sym typeface="Fira Code"/>
              </a:rPr>
              <a:t>Monitoramento Serial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728675" y="3734875"/>
            <a:ext cx="44550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90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Utiliza </a:t>
            </a:r>
            <a:r>
              <a:rPr lang="pt-BR" sz="1000">
                <a:solidFill>
                  <a:srgbClr val="00F2FF"/>
                </a:solidFill>
                <a:latin typeface="Fira Code"/>
                <a:ea typeface="Fira Code"/>
                <a:cs typeface="Fira Code"/>
                <a:sym typeface="Fira Code"/>
              </a:rPr>
              <a:t>Serial.println()</a:t>
            </a: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 para exibir os dados de luminosidade em tempo real, permitindo a calibração precisa do sistema durante a simulação.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0"/>
          <p:cNvSpPr/>
          <p:nvPr/>
        </p:nvSpPr>
        <p:spPr>
          <a:xfrm>
            <a:off x="5272088" y="937617"/>
            <a:ext cx="3300413" cy="2586038"/>
          </a:xfrm>
          <a:prstGeom prst="rect">
            <a:avLst/>
          </a:prstGeom>
          <a:solidFill>
            <a:srgbClr val="1A222D">
              <a:alpha val="50196"/>
            </a:srgbClr>
          </a:solidFill>
          <a:ln cap="flat" cmpd="sng" w="9525">
            <a:solidFill>
              <a:srgbClr val="00F2FF">
                <a:alpha val="2000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45" name="Google Shape;245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72100" y="1116533"/>
            <a:ext cx="3300400" cy="22282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51" name="Google Shape;25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375" y="10485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1"/>
          <p:cNvSpPr/>
          <p:nvPr/>
        </p:nvSpPr>
        <p:spPr>
          <a:xfrm>
            <a:off x="428625" y="428625"/>
            <a:ext cx="8715375" cy="4375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2450"/>
              <a:buFont typeface="Space Grotesk"/>
              <a:buNone/>
            </a:pPr>
            <a:r>
              <a:rPr b="1" lang="pt-BR" sz="2450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FUNCIONAMENTO: AMBIENTE ESCURO</a:t>
            </a:r>
            <a:endParaRPr sz="2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600075" y="1318251"/>
            <a:ext cx="3543300" cy="2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400"/>
              <a:buFont typeface="Inter SemiBold"/>
              <a:buNone/>
            </a:pPr>
            <a:r>
              <a:rPr b="1" lang="pt-BR" sz="14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DETECÇÃO DE BAIXA LUZ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/>
          <p:nvPr/>
        </p:nvSpPr>
        <p:spPr>
          <a:xfrm>
            <a:off x="600075" y="1660025"/>
            <a:ext cx="3866400" cy="77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1050"/>
              <a:buFont typeface="Inter"/>
              <a:buNone/>
            </a:pPr>
            <a:r>
              <a:rPr lang="pt-BR" sz="11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Quando o sensor LDR capta uma intensidade luminosa reduzida, a resistência aumenta e o valor lido pelo Arduino cai abaixo do limite estabelecido.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1"/>
          <p:cNvSpPr/>
          <p:nvPr/>
        </p:nvSpPr>
        <p:spPr>
          <a:xfrm>
            <a:off x="600075" y="2839001"/>
            <a:ext cx="3543300" cy="2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400"/>
              <a:buFont typeface="Inter SemiBold"/>
              <a:buNone/>
            </a:pPr>
            <a:r>
              <a:rPr b="1" lang="pt-BR" sz="14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ACIONAMENTO DO RELÉ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1"/>
          <p:cNvSpPr/>
          <p:nvPr/>
        </p:nvSpPr>
        <p:spPr>
          <a:xfrm>
            <a:off x="600075" y="3239075"/>
            <a:ext cx="39186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1050"/>
              <a:buFont typeface="Inter"/>
              <a:buNone/>
            </a:pPr>
            <a:r>
              <a:rPr lang="pt-BR" sz="11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O sistema processa a informação e envia um sinal digital para fechar o contato do relé, completando o circuito da lâmpada externa.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7" name="Google Shape;25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02800" y="1318250"/>
            <a:ext cx="3339176" cy="2837200"/>
          </a:xfrm>
          <a:prstGeom prst="rect">
            <a:avLst/>
          </a:prstGeom>
          <a:solidFill>
            <a:srgbClr val="1A222D">
              <a:alpha val="50199"/>
            </a:srgbClr>
          </a:solidFill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63" name="Google Shape;26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450" y="72475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22"/>
          <p:cNvSpPr/>
          <p:nvPr/>
        </p:nvSpPr>
        <p:spPr>
          <a:xfrm>
            <a:off x="571500" y="428625"/>
            <a:ext cx="8572500" cy="4375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2450"/>
              <a:buFont typeface="Space Grotesk"/>
              <a:buNone/>
            </a:pPr>
            <a:r>
              <a:rPr b="1" lang="pt-BR" sz="2450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FUNCIONAMENTO: AMBIENTE CLARO</a:t>
            </a:r>
            <a:endParaRPr sz="2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2"/>
          <p:cNvSpPr/>
          <p:nvPr/>
        </p:nvSpPr>
        <p:spPr>
          <a:xfrm>
            <a:off x="975700" y="1431175"/>
            <a:ext cx="3243300" cy="31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400"/>
              <a:buFont typeface="Inter SemiBold"/>
              <a:buNone/>
            </a:pPr>
            <a:r>
              <a:rPr b="1" lang="pt-BR" sz="14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ESTADO: DESATIVADO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899425" y="1797225"/>
            <a:ext cx="2964000" cy="124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just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1050"/>
              <a:buFont typeface="Inter"/>
              <a:buNone/>
            </a:pPr>
            <a:r>
              <a:rPr lang="pt-BR" sz="11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Quando o sensor LDR detecta que o ambiente já dispõe de iluminação natural suficiente, o sistema prioriza a economia de energia.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2"/>
          <p:cNvSpPr/>
          <p:nvPr/>
        </p:nvSpPr>
        <p:spPr>
          <a:xfrm>
            <a:off x="657225" y="2531248"/>
            <a:ext cx="3257700" cy="66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750"/>
              <a:buFont typeface="Inter"/>
              <a:buNone/>
            </a:pPr>
            <a:r>
              <a:t/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8" name="Google Shape;268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96750" y="1069787"/>
            <a:ext cx="3878501" cy="3078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74" name="Google Shape;27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23"/>
          <p:cNvSpPr/>
          <p:nvPr/>
        </p:nvSpPr>
        <p:spPr>
          <a:xfrm>
            <a:off x="571500" y="428625"/>
            <a:ext cx="8572500" cy="4375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2450"/>
              <a:buFont typeface="Space Grotesk"/>
              <a:buNone/>
            </a:pPr>
            <a:r>
              <a:rPr b="1" lang="pt-BR" sz="2450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RESULTADOS E DISCUSSÃO</a:t>
            </a:r>
            <a:endParaRPr sz="2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728675" y="1150573"/>
            <a:ext cx="3693300" cy="16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Inter SemiBold"/>
              <a:buNone/>
            </a:pPr>
            <a:r>
              <a:rPr b="1" lang="pt-BR" sz="12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VALIDAÇÃO DO PROTÓTIPO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728675" y="1442933"/>
            <a:ext cx="4454400" cy="6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90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O circuito desenvolvido no Tinkercad cumpriu com êxito o objetivo de automação, respondendo instantaneamente às variações de luz simuladas.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3"/>
          <p:cNvSpPr/>
          <p:nvPr/>
        </p:nvSpPr>
        <p:spPr>
          <a:xfrm>
            <a:off x="728675" y="2406275"/>
            <a:ext cx="3693300" cy="22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Inter SemiBold"/>
              <a:buNone/>
            </a:pPr>
            <a:r>
              <a:rPr b="1" lang="pt-BR" sz="12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PRECISÃO DA LÓGICA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728675" y="2636125"/>
            <a:ext cx="4454400" cy="759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90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O algoritmo demonstrou estabilidade no acionamento do relé, garantindo que a carga de 12V fosse ativada apenas sob o limiar de luminosidade definido.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28675" y="3546475"/>
            <a:ext cx="3693300" cy="16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Inter SemiBold"/>
              <a:buNone/>
            </a:pPr>
            <a:r>
              <a:rPr b="1" lang="pt-BR" sz="12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EFICIÊNCIA ENERGÉTICA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3"/>
          <p:cNvSpPr/>
          <p:nvPr/>
        </p:nvSpPr>
        <p:spPr>
          <a:xfrm>
            <a:off x="728675" y="3827175"/>
            <a:ext cx="4576500" cy="52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900"/>
              <a:buFont typeface="Inter"/>
              <a:buNone/>
            </a:pPr>
            <a:r>
              <a:rPr lang="pt-BR" sz="10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A simulação comprovou o potencial de redução de desperdício, mantendo a iluminação desativada em 100% dos cenários com luz natural suficiente.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2" name="Google Shape;282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88000" y="1457633"/>
            <a:ext cx="3300400" cy="22282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88" name="Google Shape;28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17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24"/>
          <p:cNvSpPr/>
          <p:nvPr/>
        </p:nvSpPr>
        <p:spPr>
          <a:xfrm>
            <a:off x="571500" y="428625"/>
            <a:ext cx="8572500" cy="4375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2450"/>
              <a:buFont typeface="Space Grotesk"/>
              <a:buNone/>
            </a:pPr>
            <a:r>
              <a:rPr b="1" lang="pt-BR" sz="2450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TRANSIÇÃO PARA O MUNDO REAL</a:t>
            </a:r>
            <a:endParaRPr sz="2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4"/>
          <p:cNvSpPr/>
          <p:nvPr/>
        </p:nvSpPr>
        <p:spPr>
          <a:xfrm>
            <a:off x="764375" y="1045701"/>
            <a:ext cx="4093500" cy="2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Inter SemiBold"/>
              <a:buNone/>
            </a:pPr>
            <a:r>
              <a:rPr b="1" lang="pt-BR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ARQUITETURA CENTRALIZADA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64375" y="1334000"/>
            <a:ext cx="7616700" cy="4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900"/>
              <a:buFont typeface="Inter"/>
              <a:buNone/>
            </a:pPr>
            <a:r>
              <a:rPr lang="pt-BR" sz="12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Instalação de microcontroladores e módulos relés diretamente no quadro de distribuição elétrica, interceptando os cabos de retorno das cargas.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2" name="Google Shape;292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375" y="1819825"/>
            <a:ext cx="148775" cy="1983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4"/>
          <p:cNvSpPr/>
          <p:nvPr/>
        </p:nvSpPr>
        <p:spPr>
          <a:xfrm>
            <a:off x="961750" y="1824338"/>
            <a:ext cx="47979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700"/>
              <a:buFont typeface="Inter SemiBold"/>
              <a:buNone/>
            </a:pPr>
            <a:r>
              <a:rPr lang="pt-BR" sz="1000">
                <a:solidFill>
                  <a:srgbClr val="00F2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DESAFIO: INFRAESTRUTURA DE FIAÇÃO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4"/>
          <p:cNvSpPr/>
          <p:nvPr/>
        </p:nvSpPr>
        <p:spPr>
          <a:xfrm>
            <a:off x="764375" y="2493175"/>
            <a:ext cx="4093500" cy="2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Inter SemiBold"/>
              <a:buNone/>
            </a:pPr>
            <a:r>
              <a:rPr b="1" lang="pt-BR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ARQUITETURA DISTRIBUÍDA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64425" y="2718988"/>
            <a:ext cx="80712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900"/>
              <a:buFont typeface="Inter"/>
              <a:buNone/>
            </a:pPr>
            <a:r>
              <a:rPr lang="pt-BR" sz="12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Uso de chips com conectividade Wi-Fi ou ZigBee (como o ESP32) embutidos individualmente nos pontos de iluminação.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6" name="Google Shape;296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4375" y="3298968"/>
            <a:ext cx="148775" cy="118995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24"/>
          <p:cNvSpPr/>
          <p:nvPr/>
        </p:nvSpPr>
        <p:spPr>
          <a:xfrm>
            <a:off x="961750" y="3257075"/>
            <a:ext cx="4459500" cy="1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700"/>
              <a:buFont typeface="Inter SemiBold"/>
              <a:buNone/>
            </a:pPr>
            <a:r>
              <a:rPr lang="pt-BR" sz="1000">
                <a:solidFill>
                  <a:srgbClr val="00F2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VANTAGEM: FLEXIBILIDADE E BAIXO CUSTO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4"/>
          <p:cNvSpPr/>
          <p:nvPr/>
        </p:nvSpPr>
        <p:spPr>
          <a:xfrm>
            <a:off x="864406" y="3830836"/>
            <a:ext cx="40935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Inter SemiBold"/>
              <a:buNone/>
            </a:pPr>
            <a:r>
              <a:rPr b="1" lang="pt-BR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ESTUDO DE DIMENSIONAMENTO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/>
          <p:nvPr/>
        </p:nvSpPr>
        <p:spPr>
          <a:xfrm>
            <a:off x="764369" y="4141600"/>
            <a:ext cx="8071200" cy="36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900"/>
              <a:buFont typeface="Inter"/>
              <a:buNone/>
            </a:pPr>
            <a:r>
              <a:rPr lang="pt-BR" sz="12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Necessidade de adequação para tensões nominais de 127V ou 220V, garantindo a segurança elétrica da residência.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00" name="Google Shape;300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975" y="4698800"/>
            <a:ext cx="148775" cy="148775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24"/>
          <p:cNvSpPr/>
          <p:nvPr/>
        </p:nvSpPr>
        <p:spPr>
          <a:xfrm>
            <a:off x="961750" y="4698800"/>
            <a:ext cx="5436000" cy="12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700"/>
              <a:buFont typeface="Inter SemiBold"/>
              <a:buNone/>
            </a:pPr>
            <a:r>
              <a:rPr lang="pt-BR" sz="1000">
                <a:solidFill>
                  <a:srgbClr val="00F2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FOCO: SEGURANÇA E NORMAS TÉCNICAS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07" name="Google Shape;3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96519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25"/>
          <p:cNvSpPr/>
          <p:nvPr/>
        </p:nvSpPr>
        <p:spPr>
          <a:xfrm>
            <a:off x="571500" y="428625"/>
            <a:ext cx="8572500" cy="4375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2450"/>
              <a:buFont typeface="Space Grotesk"/>
              <a:buNone/>
            </a:pPr>
            <a:r>
              <a:rPr b="1" lang="pt-BR" sz="2450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CONCLUSÃO E SUSTENTABILIDADE</a:t>
            </a:r>
            <a:endParaRPr sz="2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5"/>
          <p:cNvSpPr/>
          <p:nvPr/>
        </p:nvSpPr>
        <p:spPr>
          <a:xfrm>
            <a:off x="778669" y="1323380"/>
            <a:ext cx="3721894" cy="207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200"/>
              <a:buFont typeface="Inter SemiBold"/>
              <a:buNone/>
            </a:pPr>
            <a:r>
              <a:rPr b="1" lang="pt-BR" sz="12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GESTÃO INTELIGENTE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5"/>
          <p:cNvSpPr/>
          <p:nvPr/>
        </p:nvSpPr>
        <p:spPr>
          <a:xfrm>
            <a:off x="778677" y="1659125"/>
            <a:ext cx="51732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950"/>
              <a:buFont typeface="Inter"/>
              <a:buNone/>
            </a:pPr>
            <a:r>
              <a:rPr lang="pt-BR" sz="11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A IoT consolida-se como ferramenta estratégica para a desativação automatizada de cargas ociosas, promovendo o uso consciente de recursos.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5"/>
          <p:cNvSpPr/>
          <p:nvPr/>
        </p:nvSpPr>
        <p:spPr>
          <a:xfrm>
            <a:off x="778669" y="2526320"/>
            <a:ext cx="3721894" cy="207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200"/>
              <a:buFont typeface="Inter SemiBold"/>
              <a:buNone/>
            </a:pPr>
            <a:r>
              <a:rPr b="1" lang="pt-BR" sz="12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VIABILIDADE TÉCNICA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5"/>
          <p:cNvSpPr/>
          <p:nvPr/>
        </p:nvSpPr>
        <p:spPr>
          <a:xfrm>
            <a:off x="778675" y="2862075"/>
            <a:ext cx="51732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950"/>
              <a:buFont typeface="Inter"/>
              <a:buNone/>
            </a:pPr>
            <a:r>
              <a:rPr lang="pt-BR" sz="11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A validação em ambiente virtual comprovou que a lógica de controle é precisa e de baixo custo, pronta para transição física.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5"/>
          <p:cNvSpPr/>
          <p:nvPr/>
        </p:nvSpPr>
        <p:spPr>
          <a:xfrm>
            <a:off x="778669" y="3729261"/>
            <a:ext cx="3721894" cy="207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200"/>
              <a:buFont typeface="Inter SemiBold"/>
              <a:buNone/>
            </a:pPr>
            <a:r>
              <a:rPr b="1" lang="pt-BR" sz="1200">
                <a:solidFill>
                  <a:srgbClr val="FFD7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IMPACTO AMBIENTAL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5"/>
          <p:cNvSpPr/>
          <p:nvPr/>
        </p:nvSpPr>
        <p:spPr>
          <a:xfrm>
            <a:off x="778675" y="4065025"/>
            <a:ext cx="5505300" cy="61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B0B0B0"/>
              </a:buClr>
              <a:buSzPts val="950"/>
              <a:buFont typeface="Inter"/>
              <a:buNone/>
            </a:pPr>
            <a:r>
              <a:rPr lang="pt-BR" sz="110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Soluções de domótica focadas em eficiência energética são fundamentais para a redução da pegada de carbono residencial.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5" name="Google Shape;31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59721" y="788996"/>
            <a:ext cx="1648225" cy="178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705250" y="2966675"/>
            <a:ext cx="1693450" cy="1782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22" name="Google Shape;32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26"/>
          <p:cNvSpPr/>
          <p:nvPr/>
        </p:nvSpPr>
        <p:spPr>
          <a:xfrm>
            <a:off x="571500" y="428625"/>
            <a:ext cx="8572500" cy="4375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2450"/>
              <a:buFont typeface="Space Grotesk"/>
              <a:buNone/>
            </a:pPr>
            <a:r>
              <a:rPr b="1" lang="pt-BR" sz="2450">
                <a:solidFill>
                  <a:srgbClr val="00F2FF"/>
                </a:solidFill>
                <a:latin typeface="Space Grotesk"/>
                <a:ea typeface="Space Grotesk"/>
                <a:cs typeface="Space Grotesk"/>
                <a:sym typeface="Space Grotesk"/>
              </a:rPr>
              <a:t>REFERÊNCIAS BIBLIOGRÁFICAS</a:t>
            </a:r>
            <a:endParaRPr sz="2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6"/>
          <p:cNvSpPr/>
          <p:nvPr/>
        </p:nvSpPr>
        <p:spPr>
          <a:xfrm>
            <a:off x="771525" y="1151930"/>
            <a:ext cx="6943725" cy="6171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E0E0E0"/>
              </a:buClr>
              <a:buSzPts val="900"/>
              <a:buFont typeface="Inter SemiBold"/>
              <a:buNone/>
            </a:pPr>
            <a:r>
              <a:rPr b="1" lang="pt-BR" sz="900">
                <a:solidFill>
                  <a:srgbClr val="E0E0E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AGUIAR, V. E. P. de; COELHO, S. de S.; RODRIGUES, T. K. de A.</a:t>
            </a:r>
            <a:r>
              <a:rPr lang="pt-BR" sz="95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 (2025). Automação Residencial para Eficiência Energética: Análise da Transformação do Consumo de Energia. Revista Ibero-Americana de Humanidades, Ciências e Educação.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6"/>
          <p:cNvSpPr/>
          <p:nvPr/>
        </p:nvSpPr>
        <p:spPr>
          <a:xfrm>
            <a:off x="771525" y="1983395"/>
            <a:ext cx="6943725" cy="4114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E0E0E0"/>
              </a:buClr>
              <a:buSzPts val="900"/>
              <a:buFont typeface="Inter SemiBold"/>
              <a:buNone/>
            </a:pPr>
            <a:r>
              <a:rPr b="1" lang="pt-BR" sz="900">
                <a:solidFill>
                  <a:srgbClr val="E0E0E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ALVES, Jeferson.</a:t>
            </a:r>
            <a:r>
              <a:rPr lang="pt-BR" sz="95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 (2024). Conhecendo os novos ESP32 com Zigbee e Thread. Curto Circuito. Disponível em: curtocircuito.com.br. Acesso em: 18 mai. 2026.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6"/>
          <p:cNvSpPr/>
          <p:nvPr/>
        </p:nvSpPr>
        <p:spPr>
          <a:xfrm>
            <a:off x="771525" y="2609143"/>
            <a:ext cx="6943725" cy="4114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E0E0E0"/>
              </a:buClr>
              <a:buSzPts val="900"/>
              <a:buFont typeface="Inter SemiBold"/>
              <a:buNone/>
            </a:pPr>
            <a:r>
              <a:rPr b="1" lang="pt-BR" sz="900">
                <a:solidFill>
                  <a:srgbClr val="E0E0E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TINKERCAD.</a:t>
            </a:r>
            <a:r>
              <a:rPr lang="pt-BR" sz="950">
                <a:solidFill>
                  <a:srgbClr val="B0B0B0"/>
                </a:solidFill>
                <a:latin typeface="Inter"/>
                <a:ea typeface="Inter"/>
                <a:cs typeface="Inter"/>
                <a:sym typeface="Inter"/>
              </a:rPr>
              <a:t> (2026). Autodesk Tinkercad: Ferramenta de Simulação de Circuitos e Modelagem 3D. Disponível em: tinkercad.com.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6"/>
          <p:cNvSpPr/>
          <p:nvPr/>
        </p:nvSpPr>
        <p:spPr>
          <a:xfrm>
            <a:off x="571500" y="3742097"/>
            <a:ext cx="7143750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F2FF"/>
              </a:buClr>
              <a:buSzPts val="1000"/>
              <a:buFont typeface="Inter SemiBold"/>
              <a:buNone/>
            </a:pPr>
            <a:r>
              <a:rPr b="1" lang="pt-BR" sz="1000">
                <a:solidFill>
                  <a:srgbClr val="00F2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PROFESSOR ORIENTADOR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6"/>
          <p:cNvSpPr/>
          <p:nvPr/>
        </p:nvSpPr>
        <p:spPr>
          <a:xfrm>
            <a:off x="571500" y="4086783"/>
            <a:ext cx="7143750" cy="2071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250"/>
              <a:buFont typeface="Inter"/>
              <a:buNone/>
            </a:pPr>
            <a:r>
              <a:rPr lang="pt-BR" sz="1250">
                <a:solidFill>
                  <a:srgbClr val="FFD700"/>
                </a:solidFill>
                <a:latin typeface="Inter"/>
                <a:ea typeface="Inter"/>
                <a:cs typeface="Inter"/>
                <a:sym typeface="Inter"/>
              </a:rPr>
              <a:t>Heleno Cardoso</a:t>
            </a:r>
            <a:endParaRPr sz="12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00FFFF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