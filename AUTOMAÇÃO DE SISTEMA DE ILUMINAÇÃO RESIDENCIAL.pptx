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Fira Code"/>
      <p:regular r:id="rId35"/>
      <p:bold r:id="rId36"/>
    </p:embeddedFont>
    <p:embeddedFont>
      <p:font typeface="Space Grotesk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FiraCode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SpaceGrotesk-bold.fntdata"/><Relationship Id="rId14" Type="http://schemas.openxmlformats.org/officeDocument/2006/relationships/slide" Target="slides/slide8.xml"/><Relationship Id="rId36" Type="http://schemas.openxmlformats.org/officeDocument/2006/relationships/font" Target="fonts/FiraCode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5bd53578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e35bd53578_2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35bd53578_2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35bd53578_2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g3e35bd53578_2_1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35bd53578_2_1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35bd53578_2_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e35bd53578_2_3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e35bd53578_2_3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35bd53578_0_7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e35bd53578_0_77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35bd53578_0_77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35bd53578_2_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e35bd53578_2_6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35bd53578_2_6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35bd53578_2_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e35bd53578_2_8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e35bd53578_2_8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35bd53578_2_9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e35bd53578_2_9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35bd53578_2_9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35bd53578_2_1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g3e35bd53578_2_11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35bd53578_2_11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35bd53578_2_1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e35bd53578_2_12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35bd53578_2_12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35bd53578_2_1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3e35bd53578_2_14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35bd53578_2_14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35bd53578_2_1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g3e35bd53578_2_16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35bd53578_2_16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35bd53578_2_1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e35bd53578_2_17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e35bd53578_2_17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4.png"/><Relationship Id="rId10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jp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jp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jp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/>
          <p:nvPr/>
        </p:nvSpPr>
        <p:spPr>
          <a:xfrm>
            <a:off x="857250" y="999651"/>
            <a:ext cx="6743700" cy="31441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857250" y="999651"/>
            <a:ext cx="28575" cy="3144199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1143000" y="1305967"/>
            <a:ext cx="6429375" cy="150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3300"/>
              <a:buFont typeface="Space Grotesk"/>
              <a:buNone/>
            </a:pPr>
            <a:r>
              <a:rPr b="1" i="0" lang="pt-BR" sz="33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PROJETO IOT:</a:t>
            </a:r>
            <a:br>
              <a:rPr b="1" i="0" lang="pt-BR" sz="33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i="0" lang="pt-BR" sz="33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AUTOMAÇÃO DE SISTEMA DE</a:t>
            </a:r>
            <a:br>
              <a:rPr b="1" i="0" lang="pt-BR" sz="33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i="0" lang="pt-BR" sz="33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ILUMINAÇÃO RESIDENCIAL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143000" y="3004421"/>
            <a:ext cx="6429375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Desenvolvimento e Simulação para Eficiência Energética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143000" y="3495554"/>
            <a:ext cx="6429375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Hanna Serapião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1143000" y="3711653"/>
            <a:ext cx="64293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50"/>
              <a:buFont typeface="Inter"/>
              <a:buNone/>
            </a:pPr>
            <a:r>
              <a:rPr b="0" i="0" lang="pt-BR" sz="1050" u="none" cap="none" strike="noStrik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Hugliane Almeida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143000" y="3927751"/>
            <a:ext cx="64293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50"/>
              <a:buFont typeface="Inter"/>
              <a:buNone/>
            </a:pPr>
            <a:r>
              <a:rPr b="0" i="0" lang="pt-BR" sz="1050" u="none" cap="none" strike="noStrik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Mateus Trindade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7343775" y="3343275"/>
            <a:ext cx="1443038" cy="1443038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F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 rot="2700000">
            <a:off x="7536656" y="4068366"/>
            <a:ext cx="1071563" cy="7144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" y="-30875"/>
            <a:ext cx="9086852" cy="54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/>
          <p:nvPr/>
        </p:nvSpPr>
        <p:spPr>
          <a:xfrm>
            <a:off x="628650" y="485775"/>
            <a:ext cx="8572500" cy="37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CONTEXTO E MOTIVAÇÃO</a:t>
            </a:r>
            <a:endParaRPr b="1" sz="2450">
              <a:solidFill>
                <a:srgbClr val="00F2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28650" y="1057349"/>
            <a:ext cx="4286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b="1" lang="pt-BR" sz="14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NACIONAL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06500" y="1380775"/>
            <a:ext cx="52977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 crescimento no  consumo de energia  elétrica residencial, representa aproximadamente 25% da eletricidade total consumida no Brasil,  impulsiona  a busca  por soluções de eficiência 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energética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62610" y="2230008"/>
            <a:ext cx="428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b="1" lang="pt-BR" sz="14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DESPERDÍCIO</a:t>
            </a:r>
            <a:endParaRPr b="1" sz="1400">
              <a:solidFill>
                <a:srgbClr val="FFD7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06500" y="2495313"/>
            <a:ext cx="529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Grande parte do consumo é gerado por iluminação ociosa em ambientes que já possuem luz natural suficiente ou estão desocupados.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78950" y="3076450"/>
            <a:ext cx="455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b="1" lang="pt-BR" sz="14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r>
              <a:rPr b="1" lang="pt-BR" sz="12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1" lang="pt-BR" sz="14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SOLUÇÃO</a:t>
            </a:r>
            <a:r>
              <a:rPr b="1" lang="pt-BR" sz="12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IOT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78950" y="3372048"/>
            <a:ext cx="51528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Implementar um sistema autônomo capaz de monitorar a luminosidade que desativa a iluminação artificial quando o ambiente dispõe de luz natural suficiente, sem necessidade intervenção humana.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562610" y="4257061"/>
            <a:ext cx="225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OBJETIVO DO SISTEMA</a:t>
            </a:r>
            <a:endParaRPr b="1" sz="1400">
              <a:solidFill>
                <a:srgbClr val="FFD7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08527" y="4514875"/>
            <a:ext cx="53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Reduzir o desperdício de energia elétrica através de um sistema autônomo baseado em IoT</a:t>
            </a:r>
            <a:r>
              <a:rPr lang="pt-BR" sz="9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7200" y="1464425"/>
            <a:ext cx="2501550" cy="28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35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FERRAMENTAS DE DESENVOLVIMENTO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764381" y="1223367"/>
            <a:ext cx="373618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 sz="11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SIMULADOR TINKERCAD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764381" y="1541264"/>
            <a:ext cx="373618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Plataforma web eficiente para demonstrar de forma didática a montagem e o funcionamento de circuitos eletrônicos.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64375" y="2261348"/>
            <a:ext cx="3736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 sz="11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VALIDAÇÃO DE LÓGICA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764375" y="2571750"/>
            <a:ext cx="3736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Permite testar o comportamento do sistema sob diferentes circunstâncias antes da implementação física real.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64375" y="3380077"/>
            <a:ext cx="3736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 sz="11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AMBIENTE INTEGRADO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64375" y="3642225"/>
            <a:ext cx="373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Facilita a integração entre hardware virtual (Arduino) e software (C++), garantindo precisão nos testes iniciais.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1202" y="1054082"/>
            <a:ext cx="3703117" cy="2881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88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571500" y="428625"/>
            <a:ext cx="83262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FERRAMENTAS DE DESENVOLVIMENTO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64381" y="1223367"/>
            <a:ext cx="3736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764375" y="2261348"/>
            <a:ext cx="3736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375" y="1181450"/>
            <a:ext cx="2541575" cy="175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1017725" y="1929200"/>
            <a:ext cx="19803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Microcontrolador que processa sinais analógicos e controla saídas digitais.</a:t>
            </a:r>
            <a:endParaRPr sz="11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1685300" y="1439075"/>
            <a:ext cx="127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Arduino Uno</a:t>
            </a:r>
            <a:endParaRPr b="1" sz="13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088" y="3005625"/>
            <a:ext cx="2541575" cy="175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1100" y="1181450"/>
            <a:ext cx="2541575" cy="175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825" y="1139525"/>
            <a:ext cx="2541575" cy="180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1088" y="3005625"/>
            <a:ext cx="2541575" cy="175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813" y="3005625"/>
            <a:ext cx="2541575" cy="175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1654700" y="3299325"/>
            <a:ext cx="133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Lâmpada 12V</a:t>
            </a:r>
            <a:endParaRPr b="1" sz="13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977225" y="3859325"/>
            <a:ext cx="20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Carga elétrica controlada pelo sistema de automação</a:t>
            </a:r>
            <a:endParaRPr sz="11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3526050" y="2040200"/>
            <a:ext cx="221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Resistor que varia  resistência conforme a luminosidade</a:t>
            </a:r>
            <a:endParaRPr sz="11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4256475" y="1439075"/>
            <a:ext cx="14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LDR (Sensor)</a:t>
            </a:r>
            <a:endParaRPr b="1" sz="13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8" name="Google Shape;1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4324" y="1468112"/>
            <a:ext cx="437700" cy="4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5276" y="3299325"/>
            <a:ext cx="437700" cy="4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4895" y="1452083"/>
            <a:ext cx="437700" cy="4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1195" y="3255320"/>
            <a:ext cx="437700" cy="4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3613549" y="3748325"/>
            <a:ext cx="20919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Forma o divisor de tensão com o LDR para leitura analógica</a:t>
            </a:r>
            <a:endParaRPr sz="11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291724" y="3255325"/>
            <a:ext cx="14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Resistor 10kΩ</a:t>
            </a:r>
            <a:endParaRPr b="1" sz="13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6857875" y="1412675"/>
            <a:ext cx="133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Relé SPDT</a:t>
            </a:r>
            <a:endParaRPr b="1" sz="13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5" name="Google Shape;205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00775" y="1386276"/>
            <a:ext cx="437700" cy="4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6265750" y="1905800"/>
            <a:ext cx="2028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Chave eletromecânica que permite ao Arduino controlar a lâmpada de 12V</a:t>
            </a:r>
            <a:r>
              <a:rPr lang="pt-BR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798575" y="3140275"/>
            <a:ext cx="1453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Fonte 12V +</a:t>
            </a:r>
            <a:endParaRPr b="1" sz="13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Protoboard</a:t>
            </a:r>
            <a:endParaRPr b="1" sz="13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6194650" y="3859325"/>
            <a:ext cx="221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Alimentação da lâmpada e plataforma de prototipagem</a:t>
            </a:r>
            <a:endParaRPr sz="11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9" name="Google Shape;209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70175" y="3272923"/>
            <a:ext cx="437700" cy="4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5" name="Google Shape;2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MONTAGEM DO CIRCUITO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60847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/>
          <p:nvPr/>
        </p:nvSpPr>
        <p:spPr>
          <a:xfrm>
            <a:off x="828675" y="1151930"/>
            <a:ext cx="388620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b="1" lang="pt-BR" sz="11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ALIMENTAÇÃO 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828675" y="1439475"/>
            <a:ext cx="429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8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Conexão das saídas 5V e GND do Arduino aos barramentos da protoboard para energizar os componentes de sinal.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7704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/>
          <p:nvPr/>
        </p:nvSpPr>
        <p:spPr>
          <a:xfrm>
            <a:off x="871538" y="2168128"/>
            <a:ext cx="384333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b="1" lang="pt-BR" sz="11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DIVISOR DE TENSÃO (LDR)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871551" y="2455675"/>
            <a:ext cx="429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8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Integração do sensor LDR à porta analógica A0 com um resistor de 10kΩ, permitindo a leitura precisa da luminosidade.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93244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/>
          <p:nvPr/>
        </p:nvSpPr>
        <p:spPr>
          <a:xfrm>
            <a:off x="892969" y="3184327"/>
            <a:ext cx="38219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b="1" lang="pt-BR" sz="11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 DE POTÊNCIA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892976" y="3471875"/>
            <a:ext cx="42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8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Conexão do Relé SPDT ao pino digital 4. O relé atua como interruptor para a fonte externa de 12V da lâmpada.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09442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/>
          <p:nvPr/>
        </p:nvSpPr>
        <p:spPr>
          <a:xfrm>
            <a:off x="828675" y="4200525"/>
            <a:ext cx="388620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b="1" lang="pt-BR" sz="11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CIRCUITO DE CARGA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828675" y="4488050"/>
            <a:ext cx="429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8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Fechamento do circuito de 12V através dos terminais comum e normalmente aberto (NO) do relé.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857750" y="3846909"/>
            <a:ext cx="3714750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50" spcFirstLastPara="1" rIns="680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05450" y="1232296"/>
            <a:ext cx="3067050" cy="3048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24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LÓGICA DE PROGRAMAÇÃO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28663" y="1094780"/>
            <a:ext cx="3557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Fira Code"/>
              <a:buNone/>
            </a:pPr>
            <a:r>
              <a:rPr b="1" lang="pt-BR" sz="1200">
                <a:solidFill>
                  <a:srgbClr val="FFD700"/>
                </a:solidFill>
                <a:latin typeface="Fira Code"/>
                <a:ea typeface="Fira Code"/>
                <a:cs typeface="Fira Code"/>
                <a:sym typeface="Fira Code"/>
              </a:rPr>
              <a:t>void setup()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728675" y="1364950"/>
            <a:ext cx="41928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Inicializa as configurações de hardware. Define a porta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A0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como entrada para o sensor LDR e o pino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como saída para o controle do relé. Inicia a comunicação serial a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9600 bps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728675" y="2310125"/>
            <a:ext cx="3557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Fira Code"/>
              <a:buNone/>
            </a:pPr>
            <a:r>
              <a:rPr b="1" lang="pt-BR" sz="1200">
                <a:solidFill>
                  <a:srgbClr val="FFD700"/>
                </a:solidFill>
                <a:latin typeface="Fira Code"/>
                <a:ea typeface="Fira Code"/>
                <a:cs typeface="Fira Code"/>
                <a:sym typeface="Fira Code"/>
              </a:rPr>
              <a:t>void loop()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28675" y="2529050"/>
            <a:ext cx="40443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Executa a lógica de controle contínuo. Lê o valor analógico do sensor e compara com o limiar de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500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 Se o ambiente estiver escuro, aciona o relé enviando sinal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HIGH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728675" y="3479299"/>
            <a:ext cx="3557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Fira Code"/>
              <a:buNone/>
            </a:pPr>
            <a:r>
              <a:rPr b="1" lang="pt-BR" sz="1200">
                <a:solidFill>
                  <a:srgbClr val="FFD700"/>
                </a:solidFill>
                <a:latin typeface="Fira Code"/>
                <a:ea typeface="Fira Code"/>
                <a:cs typeface="Fira Code"/>
                <a:sym typeface="Fira Code"/>
              </a:rPr>
              <a:t>Monitoramento Serial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28675" y="3734875"/>
            <a:ext cx="44550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Utiliza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Serial.println()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para exibir os dados de luminosidade em tempo real, permitindo a calibração precisa do sistema durante a simulação.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272088" y="937617"/>
            <a:ext cx="3300413" cy="2586038"/>
          </a:xfrm>
          <a:prstGeom prst="rect">
            <a:avLst/>
          </a:prstGeom>
          <a:solidFill>
            <a:srgbClr val="1A222D">
              <a:alpha val="50196"/>
            </a:srgbClr>
          </a:solidFill>
          <a:ln cap="flat" cmpd="sng" w="9525">
            <a:solidFill>
              <a:srgbClr val="00F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500" y="756750"/>
            <a:ext cx="3557700" cy="3387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75" y="1048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FUNCIONAMENTO: AMBIENTE ESCURO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00075" y="1318251"/>
            <a:ext cx="3543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b="1" lang="pt-BR" sz="14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DETECÇÃO DE BAIXA LUZ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00075" y="1660025"/>
            <a:ext cx="38664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Quando o sensor LDR capta uma intensidade luminosa reduzida, a resistência aumenta e o valor lido pelo Arduino cai abaixo do limite estabelecido.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00075" y="2839001"/>
            <a:ext cx="3543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b="1" lang="pt-BR" sz="14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ACIONAMENTO DO RELÉ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00075" y="3239075"/>
            <a:ext cx="3918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 sistema processa a informação e envia um sinal digital para fechar o contato do relé, completando o circuito da lâmpada externa.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2800" y="1318250"/>
            <a:ext cx="3339176" cy="2837200"/>
          </a:xfrm>
          <a:prstGeom prst="rect">
            <a:avLst/>
          </a:prstGeom>
          <a:solidFill>
            <a:srgbClr val="1A222D">
              <a:alpha val="50199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50" y="724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FUNCIONAMENTO: AMBIENTE CLARO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975700" y="1431175"/>
            <a:ext cx="3243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b="1" lang="pt-BR" sz="14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ESTADO: DESATIVADO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899425" y="1797225"/>
            <a:ext cx="29640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Quando o sensor LDR detecta que o ambiente já dispõe de iluminação natural suficiente, o sistema prioriza a economia de energia.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57225" y="2531248"/>
            <a:ext cx="32577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Inter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750" y="1069787"/>
            <a:ext cx="3878501" cy="30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 E DISCUSSÃO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728675" y="1150573"/>
            <a:ext cx="369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 sz="12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VALIDAÇÃO DO PROTÓTIPO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28675" y="1442933"/>
            <a:ext cx="44544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 circuito desenvolvido no Tinkercad cumpriu com êxito o objetivo de automação, respondendo instantaneamente às variações de luz simuladas.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28675" y="2406275"/>
            <a:ext cx="3693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 sz="12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PRECISÃO DA LÓGICA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728675" y="2636125"/>
            <a:ext cx="4454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 algoritmo demonstrou estabilidade no acionamento do relé, garantindo que a carga de 12V fosse ativada apenas sob o limiar de luminosidade definido.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28675" y="3546475"/>
            <a:ext cx="369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 sz="12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EFICIÊNCIA ENERGÉTICA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728675" y="3827175"/>
            <a:ext cx="4576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 simulação comprovou o potencial de redução de desperdício, mantendo a iluminação desativada em 100% dos cenários com luz natural suficiente.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4500" y="1025100"/>
            <a:ext cx="3004200" cy="30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TRANSIÇÃO PARA O MUNDO REAL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64375" y="1045701"/>
            <a:ext cx="4093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ARQUITETURA CENTRALIZADA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64375" y="1334000"/>
            <a:ext cx="76167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Instalação de microcontroladores e módulos relés diretamente no quadro de distribuição elétrica, interceptando os cabos de retorno das cargas.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375" y="1819825"/>
            <a:ext cx="148775" cy="1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/>
          <p:nvPr/>
        </p:nvSpPr>
        <p:spPr>
          <a:xfrm>
            <a:off x="961750" y="1824338"/>
            <a:ext cx="47979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 SemiBold"/>
              <a:buNone/>
            </a:pPr>
            <a:r>
              <a:rPr lang="pt-BR" sz="10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DESAFIO: INFRAESTRUTURA DE FIAÇÃO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764375" y="2493175"/>
            <a:ext cx="4093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ARQUITETURA DISTRIBUÍDA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64425" y="2718988"/>
            <a:ext cx="8071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Uso de chips com conectividade Wi-Fi ou ZigBee (como o ESP32) embutidos individualmente nos pontos de iluminação.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375" y="3298968"/>
            <a:ext cx="148775" cy="11899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/>
          <p:nvPr/>
        </p:nvSpPr>
        <p:spPr>
          <a:xfrm>
            <a:off x="961750" y="3257075"/>
            <a:ext cx="4459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 SemiBold"/>
              <a:buNone/>
            </a:pPr>
            <a:r>
              <a:rPr lang="pt-BR" sz="10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VANTAGEM: FLEXIBILIDADE E BAIXO CUSTO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864406" y="3830836"/>
            <a:ext cx="4093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b="1" lang="pt-BR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ESTUDO DE DIMENSIONAMENTO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764369" y="4141600"/>
            <a:ext cx="8071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Necessidade de adequação para tensões nominais de 127V ou 220V, garantindo a segurança elétrica da residência.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975" y="4698800"/>
            <a:ext cx="148775" cy="1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/>
          <p:nvPr/>
        </p:nvSpPr>
        <p:spPr>
          <a:xfrm>
            <a:off x="961750" y="4698800"/>
            <a:ext cx="5436000" cy="1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 SemiBold"/>
              <a:buNone/>
            </a:pPr>
            <a:r>
              <a:rPr lang="pt-BR" sz="10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FOCO: SEGURANÇA E NORMAS TÉCNICAS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7" name="Google Shape;3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9651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CONCLUSÃO E SUSTENTABILIDADE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778669" y="1323380"/>
            <a:ext cx="372189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Inter SemiBold"/>
              <a:buNone/>
            </a:pPr>
            <a:r>
              <a:rPr b="1" lang="pt-BR" sz="12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GESTÃO INTELIGENTE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778677" y="1659125"/>
            <a:ext cx="5173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 IoT consolida-se como ferramenta estratégica para a desativação automatizada de cargas ociosas, promovendo o uso consciente de recursos.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778669" y="2526320"/>
            <a:ext cx="372189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Inter SemiBold"/>
              <a:buNone/>
            </a:pPr>
            <a:r>
              <a:rPr b="1" lang="pt-BR" sz="12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VIABILIDADE TÉCNICA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778675" y="2862075"/>
            <a:ext cx="5173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 validação em ambiente virtual comprovou que a lógica de controle é precisa e de baixo custo, pronta para transição física.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778669" y="3729261"/>
            <a:ext cx="372189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Inter SemiBold"/>
              <a:buNone/>
            </a:pPr>
            <a:r>
              <a:rPr b="1" lang="pt-BR" sz="1200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AMBIENTAL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778675" y="4065025"/>
            <a:ext cx="5505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Soluções de domótica focadas em eficiência energética são fundamentais para a redução da pegada de carbono residencial.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721" y="788996"/>
            <a:ext cx="1648225" cy="178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250" y="2966675"/>
            <a:ext cx="1693450" cy="178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2" name="Google Shape;3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b="1" lang="pt-BR" sz="24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REFERÊNCIAS BIBLIOGRÁFICAS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771525" y="1151930"/>
            <a:ext cx="6943725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Inter SemiBold"/>
              <a:buNone/>
            </a:pPr>
            <a:r>
              <a:rPr b="1" lang="pt-BR" sz="900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AGUIAR, V. E. P. de; COELHO, S. de S.; RODRIGUES, T. K. de A.</a:t>
            </a:r>
            <a:r>
              <a:rPr lang="pt-BR" sz="9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(2025). Automação Residencial para Eficiência Energética: Análise da Transformação do Consumo de Energia. Revista Ibero-Americana de Humanidades, Ciências e Educação.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771525" y="1983395"/>
            <a:ext cx="694372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Inter SemiBold"/>
              <a:buNone/>
            </a:pPr>
            <a:r>
              <a:rPr b="1" lang="pt-BR" sz="900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ALVES, Jeferson.</a:t>
            </a:r>
            <a:r>
              <a:rPr lang="pt-BR" sz="9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(2024). Conhecendo os novos ESP32 com Zigbee e Thread. Curto Circuito. Disponível em: curtocircuito.com.br. Acesso em: 18 mai. 2026.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771525" y="2609143"/>
            <a:ext cx="694372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Inter SemiBold"/>
              <a:buNone/>
            </a:pPr>
            <a:r>
              <a:rPr b="1" lang="pt-BR" sz="900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TINKERCAD.</a:t>
            </a:r>
            <a:r>
              <a:rPr lang="pt-BR" sz="9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(2026). Autodesk Tinkercad: Ferramenta de Simulação de Circuitos e Modelagem 3D. Disponível em: tinkercad.com.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571500" y="3742097"/>
            <a:ext cx="714375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b="1" lang="pt-BR" sz="10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PROFESSOR ORIENTADOR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571500" y="4086783"/>
            <a:ext cx="714375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50"/>
              <a:buFont typeface="Inter"/>
              <a:buNone/>
            </a:pPr>
            <a:r>
              <a:rPr lang="pt-BR" sz="125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Heleno Cardoso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00FFFF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