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Space Grotesk" charset="0"/>
      <p:bold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Inter" charset="0"/>
      <p:regular r:id="rId21"/>
      <p:bold r:id="rId22"/>
      <p:italic r:id="rId23"/>
      <p:boldItalic r:id="rId24"/>
    </p:embeddedFont>
    <p:embeddedFont>
      <p:font typeface="Inter SemiBold" charset="0"/>
      <p:regular r:id="rId25"/>
      <p:bold r:id="rId26"/>
      <p:italic r:id="rId27"/>
      <p:boldItalic r:id="rId28"/>
    </p:embeddedFont>
    <p:embeddedFont>
      <p:font typeface="Trebuchet MS" pitchFamily="34" charset="0"/>
      <p:regular r:id="rId29"/>
      <p:bold r:id="rId30"/>
      <p:italic r:id="rId31"/>
      <p:boldItalic r:id="rId32"/>
    </p:embeddedFont>
    <p:embeddedFont>
      <p:font typeface="Fira Code" charset="0"/>
      <p:regular r:id="rId33"/>
      <p:bold r:id="rId34"/>
    </p:embeddedFont>
    <p:embeddedFont>
      <p:font typeface="Montserrat" charset="0"/>
      <p:regular r:id="rId35"/>
      <p:bold r:id="rId36"/>
      <p:italic r:id="rId37"/>
      <p:boldItalic r:id="rId38"/>
    </p:embeddedFont>
    <p:embeddedFont>
      <p:font typeface="Lato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859" autoAdjust="0"/>
  </p:normalViewPr>
  <p:slideViewPr>
    <p:cSldViewPr snapToGrid="0">
      <p:cViewPr>
        <p:scale>
          <a:sx n="100" d="100"/>
          <a:sy n="100" d="100"/>
        </p:scale>
        <p:origin x="-946" y="-24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font" Target="fonts/font2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5bd53578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e35bd53578_2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35bd53578_2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35bd53578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g3e35bd53578_2_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35bd53578_2_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35bd53578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e35bd53578_2_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e35bd53578_2_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35bd53578_0_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e35bd53578_0_77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35bd53578_0_7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35bd53578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e35bd53578_2_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35bd53578_2_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35bd53578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e35bd53578_2_8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e35bd53578_2_8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35bd53578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e35bd53578_2_9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35bd53578_2_9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35bd53578_2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g3e35bd53578_2_1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35bd53578_2_1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35bd53578_2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e35bd53578_2_1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35bd53578_2_1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35bd53578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3e35bd53578_2_1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35bd53578_2_1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35bd53578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g3e35bd53578_2_16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35bd53578_2_16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35bd53578_2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e35bd53578_2_17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e35bd53578_2_1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4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/>
          <p:nvPr/>
        </p:nvSpPr>
        <p:spPr>
          <a:xfrm>
            <a:off x="857250" y="999651"/>
            <a:ext cx="6743700" cy="31441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857250" y="999651"/>
            <a:ext cx="28575" cy="3144199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1143000" y="1305967"/>
            <a:ext cx="6429375" cy="150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3300"/>
              <a:buFont typeface="Space Grotesk"/>
              <a:buNone/>
            </a:pPr>
            <a:r>
              <a:rPr lang="pt-BR" sz="33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PROJETO IOT:</a:t>
            </a:r>
            <a:br>
              <a:rPr lang="pt-BR" sz="33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pt-BR" sz="33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AUTOMAÇÃO DE SISTEMA DE</a:t>
            </a:r>
            <a:br>
              <a:rPr lang="pt-BR" sz="33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pt-BR" sz="33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ILUMINAÇÃO RESIDENCIAL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143000" y="3004421"/>
            <a:ext cx="6429375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700"/>
              <a:buFont typeface="Inter"/>
              <a:buNone/>
            </a:pPr>
            <a:r>
              <a:rPr lang="pt-BR" sz="1700" b="0" i="0" u="none" strike="noStrike" cap="none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Desenvolvimento e Simulação para Eficiência Energética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143000" y="3495554"/>
            <a:ext cx="64293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Hanna Serapião</a:t>
            </a:r>
            <a:endParaRPr sz="10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1143000" y="3711653"/>
            <a:ext cx="6429375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50"/>
              <a:buFont typeface="Inter"/>
              <a:buNone/>
            </a:pPr>
            <a:r>
              <a:rPr lang="pt-BR" sz="105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Hugliane Almeida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143000" y="3927751"/>
            <a:ext cx="6429375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50"/>
              <a:buFont typeface="Inter"/>
              <a:buNone/>
            </a:pPr>
            <a:r>
              <a:rPr lang="pt-BR" sz="105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Mateus Trindade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7343775" y="3343275"/>
            <a:ext cx="1443038" cy="1443038"/>
          </a:xfrm>
          <a:prstGeom prst="ellipse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F2F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5"/>
          <p:cNvSpPr/>
          <p:nvPr/>
        </p:nvSpPr>
        <p:spPr>
          <a:xfrm rot="2700000">
            <a:off x="7536656" y="4068366"/>
            <a:ext cx="1071563" cy="7144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" y="-30875"/>
            <a:ext cx="9086852" cy="54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/>
          <p:nvPr/>
        </p:nvSpPr>
        <p:spPr>
          <a:xfrm>
            <a:off x="628650" y="485775"/>
            <a:ext cx="8572500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CONTEXTO E MOTIVAÇÃO</a:t>
            </a:r>
            <a:endParaRPr sz="2450" b="1">
              <a:solidFill>
                <a:srgbClr val="00F2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28650" y="1057349"/>
            <a:ext cx="42864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lang="pt-BR" sz="14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NACIONAL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06500" y="1380775"/>
            <a:ext cx="52977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 crescimento no  consumo de energia  elétrica residencial, representa aproximadamente 25% da eletricidade total consumida no Brasil,  impulsiona  a busca  por soluções de eficiência energética 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62610" y="2230008"/>
            <a:ext cx="4286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lang="pt-BR" sz="14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DESPERDÍCIO</a:t>
            </a:r>
            <a:endParaRPr sz="1400" b="1">
              <a:solidFill>
                <a:srgbClr val="FFD7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06500" y="2495313"/>
            <a:ext cx="529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Grande parte do consumo é gerado por iluminação ociosa em ambientes que já possuem luz natural suficiente ou estão desocupados.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78950" y="3076450"/>
            <a:ext cx="455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lang="pt-BR" sz="14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r>
              <a:rPr lang="pt-BR" sz="12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pt-BR" sz="14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SOLUÇÃO</a:t>
            </a:r>
            <a:r>
              <a:rPr lang="pt-BR" sz="12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IOT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78950" y="3372048"/>
            <a:ext cx="5152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Implementar um sistema autônomo capaz de monitorar a luminosidade que desativa a iluminação artificial quando o ambiente dispõe de luz natural suficiente, sem necessidade intervenção humana.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562610" y="4257061"/>
            <a:ext cx="225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OBJETIVO DO SISTEMA</a:t>
            </a:r>
            <a:endParaRPr sz="1400" b="1">
              <a:solidFill>
                <a:srgbClr val="FFD7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08527" y="4514875"/>
            <a:ext cx="536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Reduzir o desperdício de energia elétrica através de um sistema autônomo baseado em IoT</a:t>
            </a:r>
            <a:r>
              <a:rPr lang="pt-BR" sz="9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7200" y="1464425"/>
            <a:ext cx="2501550" cy="28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35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FERRAMENTAS DE DESENVOLVIMENTO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764381" y="1223367"/>
            <a:ext cx="3736181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sz="11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SIMULADOR TINKERCAD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764381" y="1541264"/>
            <a:ext cx="3736181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Plataforma web eficiente para demonstrar de forma didática a montagem e o funcionamento de circuitos eletrônicos.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64375" y="2261348"/>
            <a:ext cx="3736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sz="11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VALIDAÇÃO DE LÓGICA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764375" y="2571750"/>
            <a:ext cx="37362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Permite testar o comportamento do sistema sob diferentes circunstâncias antes da implementação física real.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64375" y="3380077"/>
            <a:ext cx="37362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sz="11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AMBIENTE INTEGRADO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64375" y="3642225"/>
            <a:ext cx="3736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000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Facilita a integração entre hardware virtual (Arduino) e software (C++), garantindo precisão nos testes iniciais.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1900" y="1569613"/>
            <a:ext cx="3870899" cy="20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6520" y="1082390"/>
            <a:ext cx="2026920" cy="1843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518160" y="510540"/>
            <a:ext cx="8326200" cy="44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 dirty="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FERRAMENTAS DE DESENVOLVIMENTO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64381" y="1223367"/>
            <a:ext cx="3736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764375" y="2261348"/>
            <a:ext cx="37362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1" y="1043940"/>
            <a:ext cx="2087879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949145" y="1783080"/>
            <a:ext cx="1374955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laca principal do projeto que  controla todo o sistema.</a:t>
            </a:r>
            <a:endParaRPr sz="12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853440" y="1340015"/>
            <a:ext cx="153924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Arduino Uno</a:t>
            </a:r>
            <a:endParaRPr sz="1600"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0" name="Google Shape;1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0" y="1150620"/>
            <a:ext cx="2179320" cy="196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361" y="1154765"/>
            <a:ext cx="2339339" cy="1938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181" y="2944665"/>
            <a:ext cx="2346960" cy="18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360" y="2967525"/>
            <a:ext cx="2324100" cy="184069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4739640" y="3550920"/>
            <a:ext cx="113538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Representa  a iluminação do ambiente.</a:t>
            </a:r>
            <a:endParaRPr lang="pt-BR" sz="1200" dirty="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2796540" y="1394460"/>
            <a:ext cx="1402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pt-BR" sz="1600" b="1" dirty="0" err="1" smtClean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Protoboard</a:t>
            </a:r>
            <a:r>
              <a:rPr lang="pt-BR" sz="1300" b="1" dirty="0" smtClean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300"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7109460" y="1272540"/>
            <a:ext cx="1676399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Relé SPDT</a:t>
            </a:r>
            <a:endParaRPr sz="1600"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6911340" y="1737361"/>
            <a:ext cx="144018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Liga e desliga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 lâmpada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automatica - mente.</a:t>
            </a:r>
            <a:endParaRPr sz="1200"/>
          </a:p>
        </p:txBody>
      </p:sp>
      <p:sp>
        <p:nvSpPr>
          <p:cNvPr id="208" name="Google Shape;208;p18"/>
          <p:cNvSpPr txBox="1"/>
          <p:nvPr/>
        </p:nvSpPr>
        <p:spPr>
          <a:xfrm>
            <a:off x="2689860" y="1866900"/>
            <a:ext cx="1120140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Permite montar o circuito sem solda.</a:t>
            </a:r>
            <a:endParaRPr sz="120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19800" y="3528060"/>
            <a:ext cx="563879" cy="96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5400000">
            <a:off x="3584926" y="1990136"/>
            <a:ext cx="1020665" cy="668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40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rot="5400000">
            <a:off x="8046711" y="1926436"/>
            <a:ext cx="922955" cy="634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" name="Google Shape;1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420" y="1166210"/>
            <a:ext cx="2286000" cy="193513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Retângulo 40"/>
          <p:cNvSpPr/>
          <p:nvPr/>
        </p:nvSpPr>
        <p:spPr>
          <a:xfrm>
            <a:off x="4709159" y="1714500"/>
            <a:ext cx="1363981" cy="288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pt-BR" sz="1200" dirty="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" name="Google Shape;1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640" y="2952285"/>
            <a:ext cx="2209800" cy="184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1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82040" y="2922520"/>
            <a:ext cx="922020" cy="153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" name="Picture 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848100" y="3425350"/>
            <a:ext cx="608442" cy="99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" name="Retângulo 46"/>
          <p:cNvSpPr/>
          <p:nvPr/>
        </p:nvSpPr>
        <p:spPr>
          <a:xfrm>
            <a:off x="2667000" y="3497580"/>
            <a:ext cx="11810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Sensor  que detecta a luminosidade do ambiente</a:t>
            </a:r>
            <a:endParaRPr lang="pt-BR" sz="1200" dirty="0"/>
          </a:p>
        </p:txBody>
      </p:sp>
      <p:sp>
        <p:nvSpPr>
          <p:cNvPr id="49" name="Retângulo 48"/>
          <p:cNvSpPr/>
          <p:nvPr/>
        </p:nvSpPr>
        <p:spPr>
          <a:xfrm>
            <a:off x="2862343" y="3118902"/>
            <a:ext cx="5549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b="1" dirty="0" smtClean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LDR</a:t>
            </a:r>
            <a:endParaRPr lang="pt-BR" sz="1600" dirty="0"/>
          </a:p>
        </p:txBody>
      </p:sp>
      <p:pic>
        <p:nvPicPr>
          <p:cNvPr id="50" name="Picture 6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983809" y="1859280"/>
            <a:ext cx="567977" cy="94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Retângulo 50"/>
          <p:cNvSpPr/>
          <p:nvPr/>
        </p:nvSpPr>
        <p:spPr>
          <a:xfrm>
            <a:off x="4780489" y="1388244"/>
            <a:ext cx="1503938" cy="3754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5000"/>
              </a:lnSpc>
            </a:pPr>
            <a:r>
              <a:rPr lang="pt-BR" sz="1600" b="1" dirty="0" smtClean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Resistor 10k</a:t>
            </a:r>
            <a:r>
              <a:rPr lang="el-GR" sz="1600" b="1" dirty="0" smtClean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Ω</a:t>
            </a:r>
            <a:endParaRPr lang="el-GR" sz="1600" b="1" dirty="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Retângulo 51"/>
          <p:cNvSpPr/>
          <p:nvPr/>
        </p:nvSpPr>
        <p:spPr>
          <a:xfrm>
            <a:off x="4808220" y="1859280"/>
            <a:ext cx="1059180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Auxilia no controle do sensor  LDR.</a:t>
            </a:r>
            <a:endParaRPr lang="pt-BR" sz="1200" dirty="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Retângulo 52"/>
          <p:cNvSpPr/>
          <p:nvPr/>
        </p:nvSpPr>
        <p:spPr>
          <a:xfrm>
            <a:off x="4745990" y="3154681"/>
            <a:ext cx="1471878" cy="37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pt-BR" sz="1600" b="1" dirty="0" smtClean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Lâmpada 12V</a:t>
            </a:r>
            <a:endParaRPr lang="pt-BR" sz="1600" b="1" dirty="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" name="Retângulo 53"/>
          <p:cNvSpPr/>
          <p:nvPr/>
        </p:nvSpPr>
        <p:spPr>
          <a:xfrm>
            <a:off x="6934201" y="3139441"/>
            <a:ext cx="2103120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pt-BR" b="1" dirty="0" smtClean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Fonte de Alimentação </a:t>
            </a:r>
            <a:endParaRPr lang="pt-BR" b="1" dirty="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Retângulo 54"/>
          <p:cNvSpPr/>
          <p:nvPr/>
        </p:nvSpPr>
        <p:spPr>
          <a:xfrm>
            <a:off x="6896100" y="3467100"/>
            <a:ext cx="1295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Fornece energia elétrica para o funcionamento do </a:t>
            </a:r>
            <a:r>
              <a:rPr lang="pt-BR" sz="1200" dirty="0" smtClean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circuito. </a:t>
            </a:r>
            <a:endParaRPr lang="pt-BR" sz="1200" dirty="0" smtClean="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442" name="Picture 10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176260" y="3566160"/>
            <a:ext cx="640080" cy="861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MONTAGEM DO CIRCUITO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060847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/>
          <p:nvPr/>
        </p:nvSpPr>
        <p:spPr>
          <a:xfrm>
            <a:off x="828675" y="1151930"/>
            <a:ext cx="388620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lang="pt-BR" sz="1100" b="1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ALIMENTAÇÃO 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828675" y="1439475"/>
            <a:ext cx="42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850"/>
              <a:buFont typeface="Inter"/>
              <a:buNone/>
            </a:pPr>
            <a:r>
              <a:rPr lang="pt-BR" sz="1000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Conexão das saídas 5V e GND do Arduino aos barramentos da </a:t>
            </a:r>
            <a:r>
              <a:rPr lang="pt-BR" sz="1000" dirty="0" err="1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protoboard</a:t>
            </a:r>
            <a:r>
              <a:rPr lang="pt-BR" sz="1000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para energizar os componentes de sinal.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7704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/>
          <p:nvPr/>
        </p:nvSpPr>
        <p:spPr>
          <a:xfrm>
            <a:off x="871538" y="2168128"/>
            <a:ext cx="384333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lang="pt-BR" sz="1100" b="1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DIVISOR DE TENSÃO (LDR)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871551" y="2455675"/>
            <a:ext cx="42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850"/>
              <a:buFont typeface="Inter"/>
              <a:buNone/>
            </a:pPr>
            <a:r>
              <a:rPr lang="pt-BR" sz="1000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Integração do sensor LDR à porta analógica A0 com um resistor de </a:t>
            </a:r>
            <a:r>
              <a:rPr lang="pt-BR" sz="1000" dirty="0" err="1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10kΩ</a:t>
            </a:r>
            <a:r>
              <a:rPr lang="pt-BR" sz="1000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, permitindo a leitura precisa da luminosidade.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93244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/>
          <p:nvPr/>
        </p:nvSpPr>
        <p:spPr>
          <a:xfrm>
            <a:off x="892969" y="3184327"/>
            <a:ext cx="382190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lang="pt-BR" sz="1100" b="1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 DE POTÊNCIA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892976" y="3471875"/>
            <a:ext cx="4271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8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Conexão do Relé SPDT ao pino digital 4. O relé atua como interruptor para a fonte externa de 12V da lâmpada.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09442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/>
          <p:nvPr/>
        </p:nvSpPr>
        <p:spPr>
          <a:xfrm>
            <a:off x="828675" y="4200525"/>
            <a:ext cx="388620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lang="pt-BR" sz="1100" b="1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CIRCUITO DE CARGA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828675" y="4488050"/>
            <a:ext cx="42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85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Fechamento do circuito de 12V através dos terminais comum e normalmente aberto (NO) do relé.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857750" y="3846909"/>
            <a:ext cx="371475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0" rIns="6805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72100" y="1457646"/>
            <a:ext cx="3300400" cy="222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24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LÓGICA DE PROGRAMAÇÃO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28663" y="1094780"/>
            <a:ext cx="35577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Fira Code"/>
              <a:buNone/>
            </a:pPr>
            <a:r>
              <a:rPr lang="pt-BR" sz="1200" b="1">
                <a:solidFill>
                  <a:srgbClr val="FFD700"/>
                </a:solidFill>
                <a:latin typeface="Fira Code"/>
                <a:ea typeface="Fira Code"/>
                <a:cs typeface="Fira Code"/>
                <a:sym typeface="Fira Code"/>
              </a:rPr>
              <a:t>void setup()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728675" y="1364950"/>
            <a:ext cx="4192800" cy="7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Inicializa as configurações de hardware. Define a porta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A0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como entrada para o sensor LDR e o pino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como saída para o controle do relé. Inicia a comunicação serial a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9600 bps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728675" y="2310125"/>
            <a:ext cx="35577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Fira Code"/>
              <a:buNone/>
            </a:pPr>
            <a:r>
              <a:rPr lang="pt-BR" sz="1200" b="1">
                <a:solidFill>
                  <a:srgbClr val="FFD700"/>
                </a:solidFill>
                <a:latin typeface="Fira Code"/>
                <a:ea typeface="Fira Code"/>
                <a:cs typeface="Fira Code"/>
                <a:sym typeface="Fira Code"/>
              </a:rPr>
              <a:t>void loop()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28675" y="2529050"/>
            <a:ext cx="40443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Executa a lógica de controle contínuo. Lê o valor analógico do sensor e compara com o limiar de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500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 Se o ambiente estiver escuro, aciona o relé enviando sinal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HIGH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728675" y="3479299"/>
            <a:ext cx="35577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Fira Code"/>
              <a:buNone/>
            </a:pPr>
            <a:r>
              <a:rPr lang="pt-BR" sz="1200" b="1">
                <a:solidFill>
                  <a:srgbClr val="FFD700"/>
                </a:solidFill>
                <a:latin typeface="Fira Code"/>
                <a:ea typeface="Fira Code"/>
                <a:cs typeface="Fira Code"/>
                <a:sym typeface="Fira Code"/>
              </a:rPr>
              <a:t>Monitoramento Serial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28675" y="3734875"/>
            <a:ext cx="44550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Utiliza </a:t>
            </a:r>
            <a:r>
              <a:rPr lang="pt-BR" sz="1000">
                <a:solidFill>
                  <a:srgbClr val="00F2FF"/>
                </a:solidFill>
                <a:latin typeface="Fira Code"/>
                <a:ea typeface="Fira Code"/>
                <a:cs typeface="Fira Code"/>
                <a:sym typeface="Fira Code"/>
              </a:rPr>
              <a:t>Serial.println()</a:t>
            </a: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para exibir os dados de luminosidade em tempo real, permitindo a calibração precisa do sistema durante a simulação.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272088" y="937617"/>
            <a:ext cx="3300413" cy="2586038"/>
          </a:xfrm>
          <a:prstGeom prst="rect">
            <a:avLst/>
          </a:prstGeom>
          <a:solidFill>
            <a:srgbClr val="1A222D">
              <a:alpha val="50196"/>
            </a:srgbClr>
          </a:solidFill>
          <a:ln w="9525" cap="flat" cmpd="sng">
            <a:solidFill>
              <a:srgbClr val="00F2F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100" y="1116533"/>
            <a:ext cx="3300400" cy="222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75" y="1048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FUNCIONAMENTO: AMBIENTE ESCURO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00075" y="1318251"/>
            <a:ext cx="35433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lang="pt-BR" sz="14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DETECÇÃO DE BAIXA LUZ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00075" y="1660025"/>
            <a:ext cx="38664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50"/>
              <a:buFont typeface="Inter"/>
              <a:buNone/>
            </a:pPr>
            <a:r>
              <a:rPr lang="pt-BR" sz="1100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Quando o sensor LDR capta uma intensidade luminosa reduzida, a resistência aumenta e o valor lido pelo Arduino cai abaixo do limite estabelecido.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00075" y="2839001"/>
            <a:ext cx="35433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lang="pt-BR" sz="14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ACIONAMENTO DO RELÉ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00075" y="3239075"/>
            <a:ext cx="39186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 sistema processa a informação e envia um sinal digital para fechar o contato do relé, completando o circuito da lâmpada externa.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2800" y="1318250"/>
            <a:ext cx="3339176" cy="2837200"/>
          </a:xfrm>
          <a:prstGeom prst="rect">
            <a:avLst/>
          </a:prstGeom>
          <a:solidFill>
            <a:srgbClr val="1A222D">
              <a:alpha val="50199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50" y="724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FUNCIONAMENTO: AMBIENTE CLARO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975700" y="1431175"/>
            <a:ext cx="3243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Inter SemiBold"/>
              <a:buNone/>
            </a:pPr>
            <a:r>
              <a:rPr lang="pt-BR" sz="14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ESTADO: DESATIVADO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899425" y="1797225"/>
            <a:ext cx="2964000" cy="12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0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Quando o sensor LDR detecta que o ambiente já dispõe de iluminação natural suficiente, o sistema prioriza a economia de energia.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57225" y="2531248"/>
            <a:ext cx="32577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Inter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750" y="1069787"/>
            <a:ext cx="3878501" cy="30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 E DISCUSSÃO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728675" y="1150573"/>
            <a:ext cx="36933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sz="12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VALIDAÇÃO DO PROTÓTIPO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28675" y="1442933"/>
            <a:ext cx="44544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 circuito desenvolvido no Tinkercad cumpriu com êxito o objetivo de automação, respondendo instantaneamente às variações de luz simuladas.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28675" y="2406275"/>
            <a:ext cx="3693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sz="12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PRECISÃO DA LÓGICA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728675" y="2636125"/>
            <a:ext cx="44544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 algoritmo demonstrou estabilidade no acionamento do relé, garantindo que a carga de 12V fosse ativada apenas sob o limiar de luminosidade definido.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28675" y="3546475"/>
            <a:ext cx="36933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sz="12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EFICIÊNCIA ENERGÉTICA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728675" y="3827175"/>
            <a:ext cx="45765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0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 simulação comprovou o potencial de redução de desperdício, mantendo a iluminação desativada em 100% dos cenários com luz natural suficiente.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000" y="1457633"/>
            <a:ext cx="3300400" cy="222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TRANSIÇÃO PARA O MUNDO REAL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64375" y="1045701"/>
            <a:ext cx="4093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ARQUITETURA CENTRALIZADA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64375" y="1334000"/>
            <a:ext cx="76167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Instalação de microcontroladores e módulos relés diretamente no quadro de distribuição elétrica, interceptando os cabos de retorno das cargas.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375" y="1819825"/>
            <a:ext cx="148775" cy="1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/>
          <p:nvPr/>
        </p:nvSpPr>
        <p:spPr>
          <a:xfrm>
            <a:off x="961750" y="1824338"/>
            <a:ext cx="47979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 SemiBold"/>
              <a:buNone/>
            </a:pPr>
            <a:r>
              <a:rPr lang="pt-BR" sz="10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DESAFIO: INFRAESTRUTURA DE FIAÇÃO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764375" y="2493175"/>
            <a:ext cx="4093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ARQUITETURA DISTRIBUÍDA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64425" y="2718988"/>
            <a:ext cx="8071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Uso de chips com conectividade Wi-Fi ou ZigBee (como o ESP32) embutidos individualmente nos pontos de iluminação.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375" y="3298968"/>
            <a:ext cx="148775" cy="11899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/>
          <p:nvPr/>
        </p:nvSpPr>
        <p:spPr>
          <a:xfrm>
            <a:off x="961750" y="3257075"/>
            <a:ext cx="44595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 SemiBold"/>
              <a:buNone/>
            </a:pPr>
            <a:r>
              <a:rPr lang="pt-BR" sz="10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VANTAGEM: FLEXIBILIDADE E BAIXO CUSTO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864406" y="3830836"/>
            <a:ext cx="4093500" cy="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Inter SemiBold"/>
              <a:buNone/>
            </a:pPr>
            <a:r>
              <a:rPr lang="pt-BR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ESTUDO DE DIMENSIONAMENTO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764369" y="4141600"/>
            <a:ext cx="80712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Inter"/>
              <a:buNone/>
            </a:pPr>
            <a:r>
              <a:rPr lang="pt-BR"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Necessidade de adequação para tensões nominais de 127V ou 220V, garantindo a segurança elétrica da residência.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975" y="4698800"/>
            <a:ext cx="148775" cy="1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/>
          <p:nvPr/>
        </p:nvSpPr>
        <p:spPr>
          <a:xfrm>
            <a:off x="961750" y="4698800"/>
            <a:ext cx="5436000" cy="1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 SemiBold"/>
              <a:buNone/>
            </a:pPr>
            <a:r>
              <a:rPr lang="pt-BR" sz="1000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FOCO: SEGURANÇA E NORMAS TÉCNICAS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9651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CONCLUSÃO E SUSTENTABILIDADE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778669" y="1323380"/>
            <a:ext cx="3721894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Inter SemiBold"/>
              <a:buNone/>
            </a:pPr>
            <a:r>
              <a:rPr lang="pt-BR" sz="12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GESTÃO INTELIGENTE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778677" y="1659125"/>
            <a:ext cx="5173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 IoT consolida-se como ferramenta estratégica para a desativação automatizada de cargas ociosas, promovendo o uso consciente de recursos.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778669" y="2526320"/>
            <a:ext cx="3721894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Inter SemiBold"/>
              <a:buNone/>
            </a:pPr>
            <a:r>
              <a:rPr lang="pt-BR" sz="12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VIABILIDADE TÉCNICA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778675" y="2862075"/>
            <a:ext cx="5173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 validação em ambiente virtual comprovou que a lógica de controle é precisa e de baixo custo, pronta para transição física.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778669" y="3729261"/>
            <a:ext cx="3721894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Inter SemiBold"/>
              <a:buNone/>
            </a:pPr>
            <a:r>
              <a:rPr lang="pt-BR" sz="1200" b="1">
                <a:solidFill>
                  <a:srgbClr val="FFD7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AMBIENTAL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778675" y="4065025"/>
            <a:ext cx="5505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50"/>
              <a:buFont typeface="Inter"/>
              <a:buNone/>
            </a:pPr>
            <a:r>
              <a:rPr lang="pt-BR" sz="11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Soluções de domótica focadas em eficiência energética são fundamentais para a redução da pegada de carbono residencial.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721" y="788996"/>
            <a:ext cx="1648225" cy="178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250" y="2966675"/>
            <a:ext cx="1693450" cy="178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2450"/>
              <a:buFont typeface="Space Grotesk"/>
              <a:buNone/>
            </a:pPr>
            <a:r>
              <a:rPr lang="pt-BR" sz="2450" b="1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REFERÊNCIAS BIBLIOGRÁFICAS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771525" y="1151930"/>
            <a:ext cx="6943725" cy="61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Inter SemiBold"/>
              <a:buNone/>
            </a:pPr>
            <a:r>
              <a:rPr lang="pt-BR" sz="900" b="1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AGUIAR, V. E. P. de; COELHO, S. de S.; RODRIGUES, T. K. de A.</a:t>
            </a:r>
            <a:r>
              <a:rPr lang="pt-BR" sz="9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(2025). Automação Residencial para Eficiência Energética: Análise da Transformação do Consumo de Energia. Revista Ibero-Americana de Humanidades, Ciências e Educação.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771525" y="1983395"/>
            <a:ext cx="69437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Inter SemiBold"/>
              <a:buNone/>
            </a:pPr>
            <a:r>
              <a:rPr lang="pt-BR" sz="900" b="1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ALVES, Jeferson.</a:t>
            </a:r>
            <a:r>
              <a:rPr lang="pt-BR" sz="9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(2024). Conhecendo os novos ESP32 com Zigbee e Thread. Curto Circuito. Disponível em: curtocircuito.com.br. Acesso em: 18 mai. 2026.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771525" y="2609143"/>
            <a:ext cx="69437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Inter SemiBold"/>
              <a:buNone/>
            </a:pPr>
            <a:r>
              <a:rPr lang="pt-BR" sz="900" b="1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TINKERCAD.</a:t>
            </a:r>
            <a:r>
              <a:rPr lang="pt-BR" sz="9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(2026). Autodesk Tinkercad: Ferramenta de Simulação de Circuitos e Modelagem 3D. Disponível em: tinkercad.com.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571500" y="3742097"/>
            <a:ext cx="714375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1000"/>
              <a:buFont typeface="Inter SemiBold"/>
              <a:buNone/>
            </a:pPr>
            <a:r>
              <a:rPr lang="pt-BR" sz="1000" b="1">
                <a:solidFill>
                  <a:srgbClr val="00F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PROFESSOR ORIENTADOR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571500" y="4086783"/>
            <a:ext cx="7143750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50"/>
              <a:buFont typeface="Inter"/>
              <a:buNone/>
            </a:pPr>
            <a:r>
              <a:rPr lang="pt-BR" sz="125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Heleno Cardoso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00FFFF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913</Words>
  <PresentationFormat>Apresentação na tela (16:9)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3" baseType="lpstr">
      <vt:lpstr>Arial</vt:lpstr>
      <vt:lpstr>Space Grotesk</vt:lpstr>
      <vt:lpstr>Calibri</vt:lpstr>
      <vt:lpstr>Inter</vt:lpstr>
      <vt:lpstr>Inter SemiBold</vt:lpstr>
      <vt:lpstr>Trebuchet MS</vt:lpstr>
      <vt:lpstr>Fira Code</vt:lpstr>
      <vt:lpstr>Montserrat</vt:lpstr>
      <vt:lpstr>Lato</vt:lpstr>
      <vt:lpstr>Focus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Fábio Santana</dc:creator>
  <cp:lastModifiedBy>fabio santana santana</cp:lastModifiedBy>
  <cp:revision>3</cp:revision>
  <dcterms:modified xsi:type="dcterms:W3CDTF">2026-05-27T00:26:57Z</dcterms:modified>
</cp:coreProperties>
</file>